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8" r:id="rId3"/>
    <p:sldId id="259"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AAFC37E-97D2-4A21-8DFC-038BD1D6A2B7}">
          <p14:sldIdLst>
            <p14:sldId id="256"/>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5"/>
            <a:ext cx="7766936"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2573130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098729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9"/>
            <a:ext cx="8596668" cy="1826581"/>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58721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5"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AED445-D933-4B0F-8721-E11208BBAD45}" type="datetimeFigureOut">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2520385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6" y="2160983"/>
            <a:ext cx="4185623"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75746" y="2737247"/>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9"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088385" y="2737247"/>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AED445-D933-4B0F-8721-E11208BBAD45}" type="datetimeFigureOut">
              <a:rPr lang="en-IN" smtClean="0"/>
              <a:t>28-07-2026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729414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AED445-D933-4B0F-8721-E11208BBAD45}" type="datetimeFigureOut">
              <a:rPr lang="en-IN" smtClean="0"/>
              <a:t>28-07-2026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473656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AED445-D933-4B0F-8721-E11208BBAD45}" type="datetimeFigureOut">
              <a:rPr lang="en-IN" smtClean="0"/>
              <a:t>28-07-2026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303579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4760462" y="514926"/>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2AED445-D933-4B0F-8721-E11208BBAD45}" type="datetimeFigureOut">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889310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4800600"/>
            <a:ext cx="8596667"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77335" y="5367338"/>
            <a:ext cx="8596667" cy="67402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2AED445-D933-4B0F-8721-E11208BBAD45}" type="datetimeFigureOut">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4229481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43502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5"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
        <p:nvSpPr>
          <p:cNvPr id="20" name="TextBox 19"/>
          <p:cNvSpPr txBox="1"/>
          <p:nvPr/>
        </p:nvSpPr>
        <p:spPr>
          <a:xfrm>
            <a:off x="541871" y="790378"/>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23589152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3705450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5"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
        <p:nvSpPr>
          <p:cNvPr id="24" name="TextBox 23"/>
          <p:cNvSpPr txBox="1"/>
          <p:nvPr/>
        </p:nvSpPr>
        <p:spPr>
          <a:xfrm>
            <a:off x="541871" y="790378"/>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74221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8588203" cy="302260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AED445-D933-4B0F-8721-E11208BBAD45}"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778614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987993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4" y="609601"/>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AED445-D933-4B0F-8721-E11208BBAD45}"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313AF0-C250-44CC-A038-705D28C1A20B}" type="slidenum">
              <a:rPr lang="en-IN" smtClean="0"/>
              <a:t>‹#›</a:t>
            </a:fld>
            <a:endParaRPr lang="en-IN"/>
          </a:p>
        </p:txBody>
      </p:sp>
    </p:spTree>
    <p:extLst>
      <p:ext uri="{BB962C8B-B14F-4D97-AF65-F5344CB8AC3E}">
        <p14:creationId xmlns:p14="http://schemas.microsoft.com/office/powerpoint/2010/main" val="1160925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4"/>
            <a:ext cx="911939"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C2AED445-D933-4B0F-8721-E11208BBAD45}" type="datetimeFigureOut">
              <a:rPr lang="en-IN" smtClean="0"/>
              <a:t>28-07-2026</a:t>
            </a:fld>
            <a:endParaRPr lang="en-IN"/>
          </a:p>
        </p:txBody>
      </p:sp>
      <p:sp>
        <p:nvSpPr>
          <p:cNvPr id="5" name="Footer Placeholder 4"/>
          <p:cNvSpPr>
            <a:spLocks noGrp="1"/>
          </p:cNvSpPr>
          <p:nvPr>
            <p:ph type="ftr" sz="quarter" idx="3"/>
          </p:nvPr>
        </p:nvSpPr>
        <p:spPr>
          <a:xfrm>
            <a:off x="677335" y="6041364"/>
            <a:ext cx="6297612"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4" y="6041364"/>
            <a:ext cx="683339" cy="365125"/>
          </a:xfrm>
          <a:prstGeom prst="rect">
            <a:avLst/>
          </a:prstGeom>
        </p:spPr>
        <p:txBody>
          <a:bodyPr vert="horz" lIns="91440" tIns="45720" rIns="91440" bIns="45720" rtlCol="0" anchor="ctr"/>
          <a:lstStyle>
            <a:lvl1pPr algn="r">
              <a:defRPr sz="675">
                <a:solidFill>
                  <a:schemeClr val="accent1"/>
                </a:solidFill>
              </a:defRPr>
            </a:lvl1pPr>
          </a:lstStyle>
          <a:p>
            <a:fld id="{D2313AF0-C250-44CC-A038-705D28C1A20B}" type="slidenum">
              <a:rPr lang="en-IN" smtClean="0"/>
              <a:t>‹#›</a:t>
            </a:fld>
            <a:endParaRPr lang="en-IN"/>
          </a:p>
        </p:txBody>
      </p:sp>
    </p:spTree>
    <p:extLst>
      <p:ext uri="{BB962C8B-B14F-4D97-AF65-F5344CB8AC3E}">
        <p14:creationId xmlns:p14="http://schemas.microsoft.com/office/powerpoint/2010/main" val="74270849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FD186-F9AC-422D-EA35-2F3F7D43D3CF}"/>
              </a:ext>
            </a:extLst>
          </p:cNvPr>
          <p:cNvSpPr>
            <a:spLocks noGrp="1"/>
          </p:cNvSpPr>
          <p:nvPr>
            <p:ph type="ctrTitle"/>
          </p:nvPr>
        </p:nvSpPr>
        <p:spPr>
          <a:xfrm>
            <a:off x="743380" y="1268361"/>
            <a:ext cx="8876439" cy="1646302"/>
          </a:xfrm>
        </p:spPr>
        <p:txBody>
          <a:bodyPr/>
          <a:lstStyle/>
          <a:p>
            <a:pPr algn="ctr"/>
            <a:r>
              <a:rPr lang="en-IN" u="sng" dirty="0"/>
              <a:t>AI-Powered Multimodal Misinformation Detection and Verification System</a:t>
            </a:r>
            <a:br>
              <a:rPr lang="en-IN" u="sng" dirty="0"/>
            </a:br>
            <a:br>
              <a:rPr lang="en-IN" u="sng" dirty="0"/>
            </a:br>
            <a:r>
              <a:rPr lang="en-IN" sz="4800" u="sng" dirty="0"/>
              <a:t>Literature Review</a:t>
            </a:r>
            <a:endParaRPr lang="en-IN" dirty="0"/>
          </a:p>
        </p:txBody>
      </p:sp>
      <p:sp>
        <p:nvSpPr>
          <p:cNvPr id="3" name="Subtitle 2">
            <a:extLst>
              <a:ext uri="{FF2B5EF4-FFF2-40B4-BE49-F238E27FC236}">
                <a16:creationId xmlns:a16="http://schemas.microsoft.com/office/drawing/2014/main" id="{B5C1564B-A020-E9E7-5B1B-28A9BECF6321}"/>
              </a:ext>
            </a:extLst>
          </p:cNvPr>
          <p:cNvSpPr>
            <a:spLocks noGrp="1"/>
          </p:cNvSpPr>
          <p:nvPr>
            <p:ph type="subTitle" idx="1"/>
          </p:nvPr>
        </p:nvSpPr>
        <p:spPr>
          <a:xfrm>
            <a:off x="5358581" y="3087329"/>
            <a:ext cx="5624051" cy="3913239"/>
          </a:xfrm>
        </p:spPr>
        <p:txBody>
          <a:bodyPr>
            <a:normAutofit/>
          </a:bodyPr>
          <a:lstStyle/>
          <a:p>
            <a:pPr algn="l"/>
            <a:r>
              <a:rPr lang="en-IN" sz="1400" dirty="0">
                <a:solidFill>
                  <a:schemeClr val="tx1"/>
                </a:solidFill>
              </a:rPr>
              <a:t>Presented By:</a:t>
            </a:r>
          </a:p>
          <a:p>
            <a:pPr lvl="3" algn="l"/>
            <a:r>
              <a:rPr lang="en-IN" sz="1400" dirty="0">
                <a:solidFill>
                  <a:schemeClr val="tx1"/>
                </a:solidFill>
              </a:rPr>
              <a:t>Vaishnavi Prasad</a:t>
            </a:r>
          </a:p>
          <a:p>
            <a:pPr lvl="3" algn="l"/>
            <a:r>
              <a:rPr lang="en-IN" sz="1400" dirty="0">
                <a:solidFill>
                  <a:schemeClr val="tx1"/>
                </a:solidFill>
              </a:rPr>
              <a:t>Nemuel Sam Jerry</a:t>
            </a:r>
          </a:p>
          <a:p>
            <a:pPr lvl="3" algn="l"/>
            <a:r>
              <a:rPr lang="en-IN" sz="1400" dirty="0">
                <a:solidFill>
                  <a:schemeClr val="tx1"/>
                </a:solidFill>
              </a:rPr>
              <a:t>Fathima Marjan M</a:t>
            </a:r>
          </a:p>
          <a:p>
            <a:pPr lvl="3" algn="l"/>
            <a:r>
              <a:rPr lang="en-IN" sz="1400" dirty="0">
                <a:solidFill>
                  <a:schemeClr val="tx1"/>
                </a:solidFill>
              </a:rPr>
              <a:t>Twinkle Francis</a:t>
            </a:r>
          </a:p>
          <a:p>
            <a:pPr algn="l"/>
            <a:endParaRPr lang="en-IN" sz="1400" dirty="0">
              <a:solidFill>
                <a:schemeClr val="tx1"/>
              </a:solidFill>
            </a:endParaRPr>
          </a:p>
          <a:p>
            <a:pPr algn="l">
              <a:spcBef>
                <a:spcPts val="0"/>
              </a:spcBef>
            </a:pPr>
            <a:r>
              <a:rPr lang="en-IN" sz="1400" dirty="0">
                <a:solidFill>
                  <a:schemeClr val="tx1"/>
                </a:solidFill>
              </a:rPr>
              <a:t>Project Guide: </a:t>
            </a:r>
            <a:r>
              <a:rPr lang="en-IN" sz="1800" dirty="0">
                <a:solidFill>
                  <a:schemeClr val="tx1"/>
                </a:solidFill>
              </a:rPr>
              <a:t>Nayana Chandran</a:t>
            </a:r>
          </a:p>
          <a:p>
            <a:pPr algn="l">
              <a:spcBef>
                <a:spcPts val="0"/>
              </a:spcBef>
            </a:pPr>
            <a:r>
              <a:rPr lang="en-IN" sz="1800" dirty="0">
                <a:solidFill>
                  <a:schemeClr val="tx1"/>
                </a:solidFill>
              </a:rPr>
              <a:t>			  </a:t>
            </a:r>
            <a:r>
              <a:rPr lang="en-IN" sz="1400" dirty="0">
                <a:solidFill>
                  <a:schemeClr val="tx1"/>
                </a:solidFill>
              </a:rPr>
              <a:t>Assistant Professor </a:t>
            </a:r>
          </a:p>
          <a:p>
            <a:pPr algn="l">
              <a:spcBef>
                <a:spcPts val="0"/>
              </a:spcBef>
            </a:pPr>
            <a:r>
              <a:rPr lang="en-IN" sz="1400" dirty="0">
                <a:solidFill>
                  <a:schemeClr val="tx1"/>
                </a:solidFill>
              </a:rPr>
              <a:t>			  Department of Computer Science &amp; Engineering</a:t>
            </a:r>
          </a:p>
          <a:p>
            <a:pPr algn="l"/>
            <a:endParaRPr lang="en-IN" dirty="0">
              <a:solidFill>
                <a:schemeClr val="tx1"/>
              </a:solidFill>
            </a:endParaRPr>
          </a:p>
        </p:txBody>
      </p:sp>
    </p:spTree>
    <p:extLst>
      <p:ext uri="{BB962C8B-B14F-4D97-AF65-F5344CB8AC3E}">
        <p14:creationId xmlns:p14="http://schemas.microsoft.com/office/powerpoint/2010/main" val="197270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2CABA5B-11E9-C61D-32BC-BDBFCBCEED98}"/>
              </a:ext>
            </a:extLst>
          </p:cNvPr>
          <p:cNvGraphicFramePr>
            <a:graphicFrameLocks noGrp="1"/>
          </p:cNvGraphicFramePr>
          <p:nvPr>
            <p:ph idx="1"/>
            <p:extLst>
              <p:ext uri="{D42A27DB-BD31-4B8C-83A1-F6EECF244321}">
                <p14:modId xmlns:p14="http://schemas.microsoft.com/office/powerpoint/2010/main" val="21260156"/>
              </p:ext>
            </p:extLst>
          </p:nvPr>
        </p:nvGraphicFramePr>
        <p:xfrm>
          <a:off x="285136" y="245806"/>
          <a:ext cx="11238270" cy="6403100"/>
        </p:xfrm>
        <a:graphic>
          <a:graphicData uri="http://schemas.openxmlformats.org/drawingml/2006/table">
            <a:tbl>
              <a:tblPr firstRow="1" bandRow="1">
                <a:tableStyleId>{5C22544A-7EE6-4342-B048-85BDC9FD1C3A}</a:tableStyleId>
              </a:tblPr>
              <a:tblGrid>
                <a:gridCol w="727587">
                  <a:extLst>
                    <a:ext uri="{9D8B030D-6E8A-4147-A177-3AD203B41FA5}">
                      <a16:colId xmlns:a16="http://schemas.microsoft.com/office/drawing/2014/main" val="171627280"/>
                    </a:ext>
                  </a:extLst>
                </a:gridCol>
                <a:gridCol w="3628103">
                  <a:extLst>
                    <a:ext uri="{9D8B030D-6E8A-4147-A177-3AD203B41FA5}">
                      <a16:colId xmlns:a16="http://schemas.microsoft.com/office/drawing/2014/main" val="2012246963"/>
                    </a:ext>
                  </a:extLst>
                </a:gridCol>
                <a:gridCol w="2387272">
                  <a:extLst>
                    <a:ext uri="{9D8B030D-6E8A-4147-A177-3AD203B41FA5}">
                      <a16:colId xmlns:a16="http://schemas.microsoft.com/office/drawing/2014/main" val="3327883905"/>
                    </a:ext>
                  </a:extLst>
                </a:gridCol>
                <a:gridCol w="2247654">
                  <a:extLst>
                    <a:ext uri="{9D8B030D-6E8A-4147-A177-3AD203B41FA5}">
                      <a16:colId xmlns:a16="http://schemas.microsoft.com/office/drawing/2014/main" val="2396680088"/>
                    </a:ext>
                  </a:extLst>
                </a:gridCol>
                <a:gridCol w="2247654">
                  <a:extLst>
                    <a:ext uri="{9D8B030D-6E8A-4147-A177-3AD203B41FA5}">
                      <a16:colId xmlns:a16="http://schemas.microsoft.com/office/drawing/2014/main" val="2657191236"/>
                    </a:ext>
                  </a:extLst>
                </a:gridCol>
              </a:tblGrid>
              <a:tr h="1211443">
                <a:tc>
                  <a:txBody>
                    <a:bodyPr/>
                    <a:lstStyle/>
                    <a:p>
                      <a:r>
                        <a:rPr lang="en-IN" sz="1500" dirty="0"/>
                        <a:t>SI.NO</a:t>
                      </a:r>
                    </a:p>
                  </a:txBody>
                  <a:tcPr/>
                </a:tc>
                <a:tc>
                  <a:txBody>
                    <a:bodyPr/>
                    <a:lstStyle/>
                    <a:p>
                      <a:r>
                        <a:rPr lang="en-IN" sz="1500" dirty="0"/>
                        <a:t>PAPER TITLE AND YEAR</a:t>
                      </a:r>
                    </a:p>
                  </a:txBody>
                  <a:tcPr/>
                </a:tc>
                <a:tc>
                  <a:txBody>
                    <a:bodyPr/>
                    <a:lstStyle/>
                    <a:p>
                      <a:r>
                        <a:rPr lang="en-IN" sz="1500" dirty="0"/>
                        <a:t>METHODOLOGY</a:t>
                      </a:r>
                    </a:p>
                  </a:txBody>
                  <a:tcPr/>
                </a:tc>
                <a:tc>
                  <a:txBody>
                    <a:bodyPr/>
                    <a:lstStyle/>
                    <a:p>
                      <a:r>
                        <a:rPr lang="en-IN" sz="1500" dirty="0"/>
                        <a:t>EVALUATION METRICS</a:t>
                      </a:r>
                    </a:p>
                    <a:p>
                      <a:r>
                        <a:rPr lang="en-IN" sz="1500" dirty="0"/>
                        <a:t>ACCURACY REPORTED </a:t>
                      </a:r>
                    </a:p>
                  </a:txBody>
                  <a:tcPr/>
                </a:tc>
                <a:tc>
                  <a:txBody>
                    <a:bodyPr/>
                    <a:lstStyle/>
                    <a:p>
                      <a:r>
                        <a:rPr lang="en-IN" sz="1500" dirty="0"/>
                        <a:t>GAPS IDENTIFIED</a:t>
                      </a:r>
                    </a:p>
                  </a:txBody>
                  <a:tcPr/>
                </a:tc>
                <a:extLst>
                  <a:ext uri="{0D108BD9-81ED-4DB2-BD59-A6C34878D82A}">
                    <a16:rowId xmlns:a16="http://schemas.microsoft.com/office/drawing/2014/main" val="133350589"/>
                  </a:ext>
                </a:extLst>
              </a:tr>
              <a:tr h="1428619">
                <a:tc>
                  <a:txBody>
                    <a:bodyPr/>
                    <a:lstStyle/>
                    <a:p>
                      <a:r>
                        <a:rPr lang="en-IN" sz="1500" dirty="0"/>
                        <a:t>1</a:t>
                      </a:r>
                    </a:p>
                  </a:txBody>
                  <a:tcPr/>
                </a:tc>
                <a:tc>
                  <a:txBody>
                    <a:bodyPr/>
                    <a:lstStyle/>
                    <a:p>
                      <a:r>
                        <a:rPr lang="en-IN" sz="1500" dirty="0"/>
                        <a:t>A Multi-Level Fusion-Based Framework for Multimodal Fake News Classification Using Semantic Feature Extraction (2025)</a:t>
                      </a:r>
                    </a:p>
                  </a:txBody>
                  <a:tcPr/>
                </a:tc>
                <a:tc>
                  <a:txBody>
                    <a:bodyPr/>
                    <a:lstStyle/>
                    <a:p>
                      <a:r>
                        <a:rPr lang="en-IN" sz="1500" dirty="0"/>
                        <a:t>CNN (Dual Conv Layers) + RNN + Early/Late Multimodal Fusion + Polynomial Kernel Classifier.</a:t>
                      </a:r>
                    </a:p>
                  </a:txBody>
                  <a:tcPr/>
                </a:tc>
                <a:tc>
                  <a:txBody>
                    <a:bodyPr/>
                    <a:lstStyle/>
                    <a:p>
                      <a:r>
                        <a:rPr lang="en-IN" sz="1500" dirty="0"/>
                        <a:t>Accuracy, Precision, Recall, F1-score, ROC, AUC.</a:t>
                      </a:r>
                    </a:p>
                    <a:p>
                      <a:endParaRPr lang="en-IN" sz="1500" dirty="0"/>
                    </a:p>
                    <a:p>
                      <a:r>
                        <a:rPr lang="en-IN" sz="1500" b="1" dirty="0"/>
                        <a:t>98.16%</a:t>
                      </a:r>
                      <a:r>
                        <a:rPr lang="en-IN" sz="1500" dirty="0"/>
                        <a:t> (</a:t>
                      </a:r>
                      <a:r>
                        <a:rPr lang="en-IN" sz="1500" dirty="0" err="1"/>
                        <a:t>WELFake</a:t>
                      </a:r>
                      <a:r>
                        <a:rPr lang="en-IN" sz="1500" dirty="0"/>
                        <a:t> Dataset)</a:t>
                      </a:r>
                    </a:p>
                  </a:txBody>
                  <a:tcPr/>
                </a:tc>
                <a:tc>
                  <a:txBody>
                    <a:bodyPr/>
                    <a:lstStyle/>
                    <a:p>
                      <a:r>
                        <a:rPr lang="en-IN" sz="1500" dirty="0"/>
                        <a:t>Supports only text and images, no PDF/video analysis, lacks explainable AI.</a:t>
                      </a:r>
                    </a:p>
                  </a:txBody>
                  <a:tcPr/>
                </a:tc>
                <a:extLst>
                  <a:ext uri="{0D108BD9-81ED-4DB2-BD59-A6C34878D82A}">
                    <a16:rowId xmlns:a16="http://schemas.microsoft.com/office/drawing/2014/main" val="2514613085"/>
                  </a:ext>
                </a:extLst>
              </a:tr>
              <a:tr h="1579777">
                <a:tc>
                  <a:txBody>
                    <a:bodyPr/>
                    <a:lstStyle/>
                    <a:p>
                      <a:r>
                        <a:rPr lang="en-IN" sz="1500" dirty="0"/>
                        <a:t>2</a:t>
                      </a:r>
                    </a:p>
                  </a:txBody>
                  <a:tcPr/>
                </a:tc>
                <a:tc>
                  <a:txBody>
                    <a:bodyPr/>
                    <a:lstStyle/>
                    <a:p>
                      <a:r>
                        <a:rPr lang="en-IN" sz="1500" dirty="0"/>
                        <a:t>Advanced Machine Learning Techniques for Fake News (Online Disinformation) Detection: A Systematic Mapping Study (2021)</a:t>
                      </a:r>
                    </a:p>
                  </a:txBody>
                  <a:tcPr/>
                </a:tc>
                <a:tc>
                  <a:txBody>
                    <a:bodyPr/>
                    <a:lstStyle/>
                    <a:p>
                      <a:r>
                        <a:rPr lang="en-IN" sz="1500" dirty="0"/>
                        <a:t>Systematic mapping and review of ML-based fake news detection methods covering text, images, network data and source reputation.</a:t>
                      </a:r>
                    </a:p>
                  </a:txBody>
                  <a:tcPr/>
                </a:tc>
                <a:tc>
                  <a:txBody>
                    <a:bodyPr/>
                    <a:lstStyle/>
                    <a:p>
                      <a:r>
                        <a:rPr lang="en-IN" sz="1500" dirty="0"/>
                        <a:t>Comparative review (No experimental evaluation)</a:t>
                      </a:r>
                    </a:p>
                    <a:p>
                      <a:endParaRPr lang="en-IN" sz="1500" dirty="0"/>
                    </a:p>
                    <a:p>
                      <a:r>
                        <a:rPr lang="en-IN" sz="1500" dirty="0"/>
                        <a:t>Accuracy: N/A (Survey Paper)</a:t>
                      </a:r>
                    </a:p>
                  </a:txBody>
                  <a:tcPr/>
                </a:tc>
                <a:tc>
                  <a:txBody>
                    <a:bodyPr/>
                    <a:lstStyle/>
                    <a:p>
                      <a:r>
                        <a:rPr lang="en-IN" sz="1500" dirty="0"/>
                        <a:t>No unified multimodal framework, limited explainability, identifies research challenges rather than proposing a complete solution.</a:t>
                      </a:r>
                    </a:p>
                  </a:txBody>
                  <a:tcPr/>
                </a:tc>
                <a:extLst>
                  <a:ext uri="{0D108BD9-81ED-4DB2-BD59-A6C34878D82A}">
                    <a16:rowId xmlns:a16="http://schemas.microsoft.com/office/drawing/2014/main" val="4246781700"/>
                  </a:ext>
                </a:extLst>
              </a:tr>
              <a:tr h="1620523">
                <a:tc>
                  <a:txBody>
                    <a:bodyPr/>
                    <a:lstStyle/>
                    <a:p>
                      <a:r>
                        <a:rPr lang="en-IN" sz="1500" dirty="0"/>
                        <a:t>3</a:t>
                      </a:r>
                    </a:p>
                  </a:txBody>
                  <a:tcPr/>
                </a:tc>
                <a:tc>
                  <a:txBody>
                    <a:bodyPr/>
                    <a:lstStyle/>
                    <a:p>
                      <a:r>
                        <a:rPr lang="en-US" sz="1500" dirty="0"/>
                        <a:t>Multimodal Fake News Detection through Intra-Modality Feature Aggregation and Inter-Modality Semantic Fusion (2024)</a:t>
                      </a:r>
                      <a:endParaRPr lang="en-IN" sz="1500" dirty="0"/>
                    </a:p>
                  </a:txBody>
                  <a:tcPr/>
                </a:tc>
                <a:tc>
                  <a:txBody>
                    <a:bodyPr/>
                    <a:lstStyle/>
                    <a:p>
                      <a:r>
                        <a:rPr lang="en-IN" sz="1500" dirty="0"/>
                        <a:t>Proposed IFIS framework using entity detection (Faster R-CNN), attention-based intra-modality feature aggregation, dual Co-Attention blocks for inter-modality semantic fusion, and multimodal feature fusion.</a:t>
                      </a:r>
                    </a:p>
                  </a:txBody>
                  <a:tcPr/>
                </a:tc>
                <a:tc>
                  <a:txBody>
                    <a:bodyPr/>
                    <a:lstStyle/>
                    <a:p>
                      <a:r>
                        <a:rPr lang="en-US" sz="1500" dirty="0"/>
                        <a:t>Accuracy, Precision, Recall, F1-score (evaluated on Weibo and Twitter datasets).</a:t>
                      </a:r>
                      <a:endParaRPr lang="en-IN" sz="1500" dirty="0"/>
                    </a:p>
                    <a:p>
                      <a:r>
                        <a:rPr lang="en-US" sz="1500" dirty="0"/>
                        <a:t>Outperformed existing state-of-the-art methods by approximately 0.6% on benchmark datasets.</a:t>
                      </a:r>
                      <a:endParaRPr lang="en-IN" sz="1500" b="1" dirty="0"/>
                    </a:p>
                  </a:txBody>
                  <a:tcPr/>
                </a:tc>
                <a:tc>
                  <a:txBody>
                    <a:bodyPr/>
                    <a:lstStyle/>
                    <a:p>
                      <a:r>
                        <a:rPr lang="en-US" sz="1500" dirty="0"/>
                        <a:t>Supports only text and images; does not include PDF or video verification, and lacks explainable AI for prediction interpretation.</a:t>
                      </a:r>
                      <a:endParaRPr lang="en-IN" sz="1500" dirty="0"/>
                    </a:p>
                  </a:txBody>
                  <a:tcPr/>
                </a:tc>
                <a:extLst>
                  <a:ext uri="{0D108BD9-81ED-4DB2-BD59-A6C34878D82A}">
                    <a16:rowId xmlns:a16="http://schemas.microsoft.com/office/drawing/2014/main" val="1389127048"/>
                  </a:ext>
                </a:extLst>
              </a:tr>
            </a:tbl>
          </a:graphicData>
        </a:graphic>
      </p:graphicFrame>
    </p:spTree>
    <p:extLst>
      <p:ext uri="{BB962C8B-B14F-4D97-AF65-F5344CB8AC3E}">
        <p14:creationId xmlns:p14="http://schemas.microsoft.com/office/powerpoint/2010/main" val="52973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77168-CEF7-8707-8809-8BD8489E8419}"/>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C0369A7-674F-4F87-951D-4D8E44DC9DB0}"/>
              </a:ext>
            </a:extLst>
          </p:cNvPr>
          <p:cNvGraphicFramePr>
            <a:graphicFrameLocks noGrp="1"/>
          </p:cNvGraphicFramePr>
          <p:nvPr>
            <p:ph idx="1"/>
            <p:extLst>
              <p:ext uri="{D42A27DB-BD31-4B8C-83A1-F6EECF244321}">
                <p14:modId xmlns:p14="http://schemas.microsoft.com/office/powerpoint/2010/main" val="2424394315"/>
              </p:ext>
            </p:extLst>
          </p:nvPr>
        </p:nvGraphicFramePr>
        <p:xfrm>
          <a:off x="98322" y="78659"/>
          <a:ext cx="11946194" cy="6801974"/>
        </p:xfrm>
        <a:graphic>
          <a:graphicData uri="http://schemas.openxmlformats.org/drawingml/2006/table">
            <a:tbl>
              <a:tblPr firstRow="1" bandRow="1">
                <a:tableStyleId>{5C22544A-7EE6-4342-B048-85BDC9FD1C3A}</a:tableStyleId>
              </a:tblPr>
              <a:tblGrid>
                <a:gridCol w="616645">
                  <a:extLst>
                    <a:ext uri="{9D8B030D-6E8A-4147-A177-3AD203B41FA5}">
                      <a16:colId xmlns:a16="http://schemas.microsoft.com/office/drawing/2014/main" val="171627280"/>
                    </a:ext>
                  </a:extLst>
                </a:gridCol>
                <a:gridCol w="3188439">
                  <a:extLst>
                    <a:ext uri="{9D8B030D-6E8A-4147-A177-3AD203B41FA5}">
                      <a16:colId xmlns:a16="http://schemas.microsoft.com/office/drawing/2014/main" val="2012246963"/>
                    </a:ext>
                  </a:extLst>
                </a:gridCol>
                <a:gridCol w="3038168">
                  <a:extLst>
                    <a:ext uri="{9D8B030D-6E8A-4147-A177-3AD203B41FA5}">
                      <a16:colId xmlns:a16="http://schemas.microsoft.com/office/drawing/2014/main" val="3327883905"/>
                    </a:ext>
                  </a:extLst>
                </a:gridCol>
                <a:gridCol w="2713703">
                  <a:extLst>
                    <a:ext uri="{9D8B030D-6E8A-4147-A177-3AD203B41FA5}">
                      <a16:colId xmlns:a16="http://schemas.microsoft.com/office/drawing/2014/main" val="2396680088"/>
                    </a:ext>
                  </a:extLst>
                </a:gridCol>
                <a:gridCol w="2389239">
                  <a:extLst>
                    <a:ext uri="{9D8B030D-6E8A-4147-A177-3AD203B41FA5}">
                      <a16:colId xmlns:a16="http://schemas.microsoft.com/office/drawing/2014/main" val="2657191236"/>
                    </a:ext>
                  </a:extLst>
                </a:gridCol>
              </a:tblGrid>
              <a:tr h="544868">
                <a:tc>
                  <a:txBody>
                    <a:bodyPr/>
                    <a:lstStyle/>
                    <a:p>
                      <a:r>
                        <a:rPr lang="en-IN" sz="1400" dirty="0"/>
                        <a:t>SI.NO</a:t>
                      </a:r>
                    </a:p>
                  </a:txBody>
                  <a:tcPr marL="45720" marR="45720"/>
                </a:tc>
                <a:tc>
                  <a:txBody>
                    <a:bodyPr/>
                    <a:lstStyle/>
                    <a:p>
                      <a:r>
                        <a:rPr lang="en-IN" sz="1500" dirty="0"/>
                        <a:t>PAPER TITLE AND YEAR</a:t>
                      </a:r>
                    </a:p>
                  </a:txBody>
                  <a:tcPr marL="45720" marR="45720"/>
                </a:tc>
                <a:tc>
                  <a:txBody>
                    <a:bodyPr/>
                    <a:lstStyle/>
                    <a:p>
                      <a:r>
                        <a:rPr lang="en-IN" sz="1500" dirty="0"/>
                        <a:t>METHODOLOGY</a:t>
                      </a:r>
                    </a:p>
                  </a:txBody>
                  <a:tcPr marL="45720" marR="45720"/>
                </a:tc>
                <a:tc>
                  <a:txBody>
                    <a:bodyPr/>
                    <a:lstStyle/>
                    <a:p>
                      <a:r>
                        <a:rPr lang="en-IN" sz="1500" dirty="0"/>
                        <a:t>EVALUATION METRICS</a:t>
                      </a:r>
                    </a:p>
                    <a:p>
                      <a:r>
                        <a:rPr lang="en-IN" sz="1500" dirty="0"/>
                        <a:t>ACCURACY REPORTED </a:t>
                      </a:r>
                    </a:p>
                  </a:txBody>
                  <a:tcPr marL="45720" marR="45720"/>
                </a:tc>
                <a:tc>
                  <a:txBody>
                    <a:bodyPr/>
                    <a:lstStyle/>
                    <a:p>
                      <a:r>
                        <a:rPr lang="en-IN" sz="1500" dirty="0"/>
                        <a:t>GAPS IDENTIFIED</a:t>
                      </a:r>
                    </a:p>
                  </a:txBody>
                  <a:tcPr marL="45720" marR="45720"/>
                </a:tc>
                <a:extLst>
                  <a:ext uri="{0D108BD9-81ED-4DB2-BD59-A6C34878D82A}">
                    <a16:rowId xmlns:a16="http://schemas.microsoft.com/office/drawing/2014/main" val="133350589"/>
                  </a:ext>
                </a:extLst>
              </a:tr>
              <a:tr h="1755067">
                <a:tc>
                  <a:txBody>
                    <a:bodyPr/>
                    <a:lstStyle/>
                    <a:p>
                      <a:r>
                        <a:rPr lang="en-IN" sz="1400" dirty="0"/>
                        <a:t>4</a:t>
                      </a:r>
                    </a:p>
                  </a:txBody>
                  <a:tcPr marL="45720" marR="45720"/>
                </a:tc>
                <a:tc>
                  <a:txBody>
                    <a:bodyPr/>
                    <a:lstStyle/>
                    <a:p>
                      <a:r>
                        <a:rPr lang="en-US" sz="1500" dirty="0"/>
                        <a:t>SSM: Stylometric and Semantic Similarity Oriented Multimodal Fake News Detection (2023)</a:t>
                      </a:r>
                      <a:endParaRPr lang="en-IN" sz="1500" dirty="0"/>
                    </a:p>
                  </a:txBody>
                  <a:tcPr marL="45720" marR="45720"/>
                </a:tc>
                <a:tc>
                  <a:txBody>
                    <a:bodyPr/>
                    <a:lstStyle/>
                    <a:p>
                      <a:r>
                        <a:rPr lang="en-IN" sz="1450" dirty="0"/>
                        <a:t>Proposed SSM framework with Hyperbolic Hierarchical Attention Network (Hype-HAN), headline-summary similarity, image-text semantic similarity, image forgery detection using EfficientNetB7, and feature fusion for classification.</a:t>
                      </a:r>
                    </a:p>
                  </a:txBody>
                  <a:tcPr marL="45720" marR="45720"/>
                </a:tc>
                <a:tc>
                  <a:txBody>
                    <a:bodyPr/>
                    <a:lstStyle/>
                    <a:p>
                      <a:r>
                        <a:rPr lang="en-IN" sz="1450" dirty="0"/>
                        <a:t>Accuracy, Precision, Recall, F1-score (evaluated on three benchmark fake news datasets).</a:t>
                      </a:r>
                    </a:p>
                    <a:p>
                      <a:r>
                        <a:rPr lang="en-US" sz="1450" b="1" dirty="0"/>
                        <a:t>Outperformed baseline and state-of-the-art methods on all three datasets</a:t>
                      </a:r>
                      <a:endParaRPr lang="en-IN" sz="1450" dirty="0"/>
                    </a:p>
                  </a:txBody>
                  <a:tcPr marL="45720" marR="45720"/>
                </a:tc>
                <a:tc>
                  <a:txBody>
                    <a:bodyPr/>
                    <a:lstStyle/>
                    <a:p>
                      <a:r>
                        <a:rPr lang="en-US" sz="1450" dirty="0"/>
                        <a:t>Limited to text-image multimodal detection; higher computational complexity due to multiple feature extraction modules; no explainable AI and no PDF/video support.</a:t>
                      </a:r>
                      <a:endParaRPr lang="en-IN" sz="1450" dirty="0"/>
                    </a:p>
                  </a:txBody>
                  <a:tcPr marL="45720" marR="45720"/>
                </a:tc>
                <a:extLst>
                  <a:ext uri="{0D108BD9-81ED-4DB2-BD59-A6C34878D82A}">
                    <a16:rowId xmlns:a16="http://schemas.microsoft.com/office/drawing/2014/main" val="2514613085"/>
                  </a:ext>
                </a:extLst>
              </a:tr>
              <a:tr h="1755067">
                <a:tc>
                  <a:txBody>
                    <a:bodyPr/>
                    <a:lstStyle/>
                    <a:p>
                      <a:r>
                        <a:rPr lang="en-IN" sz="1400" dirty="0"/>
                        <a:t>5</a:t>
                      </a:r>
                    </a:p>
                  </a:txBody>
                  <a:tcPr marL="45720" marR="45720"/>
                </a:tc>
                <a:tc>
                  <a:txBody>
                    <a:bodyPr/>
                    <a:lstStyle/>
                    <a:p>
                      <a:r>
                        <a:rPr lang="en-US" sz="1500" dirty="0"/>
                        <a:t>SARD: Fake News Detection Based on CLIP Contrastive Learning and Multimodal Semantic Alignment (2024)</a:t>
                      </a:r>
                      <a:endParaRPr lang="en-IN" sz="1500" dirty="0"/>
                    </a:p>
                  </a:txBody>
                  <a:tcPr marL="45720" marR="45720"/>
                </a:tc>
                <a:tc>
                  <a:txBody>
                    <a:bodyPr/>
                    <a:lstStyle/>
                    <a:p>
                      <a:r>
                        <a:rPr lang="en-IN" sz="1450" dirty="0"/>
                        <a:t>Proposed SARD framework using CLIP, BERT, </a:t>
                      </a:r>
                      <a:r>
                        <a:rPr lang="en-IN" sz="1450" dirty="0" err="1"/>
                        <a:t>ResNet</a:t>
                      </a:r>
                      <a:r>
                        <a:rPr lang="en-IN" sz="1450" dirty="0"/>
                        <a:t>, contrastive learning, multimodal semantic alignment, and News-Oriented Heterogeneous Information Network (N-HIN) features.</a:t>
                      </a:r>
                    </a:p>
                  </a:txBody>
                  <a:tcPr marL="45720" marR="45720"/>
                </a:tc>
                <a:tc>
                  <a:txBody>
                    <a:bodyPr/>
                    <a:lstStyle/>
                    <a:p>
                      <a:r>
                        <a:rPr lang="en-US" sz="1450" dirty="0"/>
                        <a:t>Accuracy, Macro F1-score (Mac.F1) evaluated on three real-world datasets.</a:t>
                      </a:r>
                    </a:p>
                    <a:p>
                      <a:r>
                        <a:rPr lang="en-US" sz="1450" dirty="0"/>
                        <a:t>2.13% improvement in Accuracy and 2.89% improvement in Macro F1-score over the strongest baseline models.</a:t>
                      </a:r>
                      <a:endParaRPr lang="en-IN" sz="1450" dirty="0"/>
                    </a:p>
                  </a:txBody>
                  <a:tcPr marL="45720" marR="45720"/>
                </a:tc>
                <a:tc>
                  <a:txBody>
                    <a:bodyPr/>
                    <a:lstStyle/>
                    <a:p>
                      <a:r>
                        <a:rPr lang="en-US" sz="1450" dirty="0"/>
                        <a:t>Complex architecture requiring social-context information (N-HIN); no support for PDF/video analysis and no explainability module.</a:t>
                      </a:r>
                      <a:endParaRPr lang="en-IN" sz="1450" dirty="0"/>
                    </a:p>
                  </a:txBody>
                  <a:tcPr marL="45720" marR="45720"/>
                </a:tc>
                <a:extLst>
                  <a:ext uri="{0D108BD9-81ED-4DB2-BD59-A6C34878D82A}">
                    <a16:rowId xmlns:a16="http://schemas.microsoft.com/office/drawing/2014/main" val="4246781700"/>
                  </a:ext>
                </a:extLst>
              </a:tr>
              <a:tr h="2724339">
                <a:tc>
                  <a:txBody>
                    <a:bodyPr/>
                    <a:lstStyle/>
                    <a:p>
                      <a:r>
                        <a:rPr lang="en-IN" sz="1400" dirty="0"/>
                        <a:t>6</a:t>
                      </a:r>
                    </a:p>
                  </a:txBody>
                  <a:tcPr marL="45720" marR="45720"/>
                </a:tc>
                <a:tc>
                  <a:txBody>
                    <a:bodyPr/>
                    <a:lstStyle/>
                    <a:p>
                      <a:r>
                        <a:rPr lang="en-US" sz="1500" dirty="0"/>
                        <a:t>Multi-Modal Fake News Detection via Bridging the Gap between Modals (2023)</a:t>
                      </a:r>
                      <a:endParaRPr lang="en-IN" sz="1500" dirty="0"/>
                    </a:p>
                  </a:txBody>
                  <a:tcPr marL="45720" marR="45720"/>
                </a:tc>
                <a:tc>
                  <a:txBody>
                    <a:bodyPr/>
                    <a:lstStyle/>
                    <a:p>
                      <a:r>
                        <a:rPr lang="en-US" sz="1450" dirty="0"/>
                        <a:t>Proposed a Transformer-based multimodal fake news detection model that bridges the semantic gap between text and images by generating image captions, combining global image features (ResNet-152) and entity-level features (Faster R-CNN), and fusing them with text using a multimodal Transformer.</a:t>
                      </a:r>
                      <a:endParaRPr lang="en-IN" sz="1450" dirty="0"/>
                    </a:p>
                  </a:txBody>
                  <a:tcPr marL="45720" marR="45720"/>
                </a:tc>
                <a:tc>
                  <a:txBody>
                    <a:bodyPr/>
                    <a:lstStyle/>
                    <a:p>
                      <a:r>
                        <a:rPr lang="en-US" sz="1450" dirty="0"/>
                        <a:t>Accuracy, Precision, Recall, and F1-score for binary classification, and Accuracy for multi-class classification. Experiments were conducted on the </a:t>
                      </a:r>
                      <a:r>
                        <a:rPr lang="en-US" sz="1450" dirty="0" err="1"/>
                        <a:t>Fakeddit</a:t>
                      </a:r>
                      <a:r>
                        <a:rPr lang="en-US" sz="1450" dirty="0"/>
                        <a:t> and Weibo datasets.</a:t>
                      </a:r>
                      <a:endParaRPr lang="en-IN" sz="1450" dirty="0"/>
                    </a:p>
                    <a:p>
                      <a:r>
                        <a:rPr lang="en-US" sz="1450" dirty="0" err="1"/>
                        <a:t>Fakeddit</a:t>
                      </a:r>
                      <a:r>
                        <a:rPr lang="en-US" sz="1450" dirty="0"/>
                        <a:t> (2-class) it obtained 92.51% Accuracy and 93.79% F1-score. On Weibo, it achieved 88.86% Accuracy and 89.39% F1-score</a:t>
                      </a:r>
                      <a:endParaRPr lang="en-IN" sz="1450" b="1" dirty="0"/>
                    </a:p>
                  </a:txBody>
                  <a:tcPr marL="45720" marR="45720"/>
                </a:tc>
                <a:tc>
                  <a:txBody>
                    <a:bodyPr/>
                    <a:lstStyle/>
                    <a:p>
                      <a:r>
                        <a:rPr lang="en-US" sz="1450" dirty="0"/>
                        <a:t>The model is limited to text and image modalities. It does not support PDFs, videos, or audio, and depends on generated image captions, whose quality may affect detection performance. It also focuses primarily on multimodal fusion rather than providing explainable predictions.</a:t>
                      </a:r>
                      <a:endParaRPr lang="en-IN" sz="1450" dirty="0"/>
                    </a:p>
                  </a:txBody>
                  <a:tcPr marL="45720" marR="45720"/>
                </a:tc>
                <a:extLst>
                  <a:ext uri="{0D108BD9-81ED-4DB2-BD59-A6C34878D82A}">
                    <a16:rowId xmlns:a16="http://schemas.microsoft.com/office/drawing/2014/main" val="1389127048"/>
                  </a:ext>
                </a:extLst>
              </a:tr>
            </a:tbl>
          </a:graphicData>
        </a:graphic>
      </p:graphicFrame>
    </p:spTree>
    <p:extLst>
      <p:ext uri="{BB962C8B-B14F-4D97-AF65-F5344CB8AC3E}">
        <p14:creationId xmlns:p14="http://schemas.microsoft.com/office/powerpoint/2010/main" val="3971776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9C52A-CB05-347E-65ED-A84B4FAB2BDA}"/>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96A1720-4141-B949-AB2B-056DEE0DC552}"/>
              </a:ext>
            </a:extLst>
          </p:cNvPr>
          <p:cNvGraphicFramePr>
            <a:graphicFrameLocks noGrp="1"/>
          </p:cNvGraphicFramePr>
          <p:nvPr>
            <p:ph idx="1"/>
            <p:extLst>
              <p:ext uri="{D42A27DB-BD31-4B8C-83A1-F6EECF244321}">
                <p14:modId xmlns:p14="http://schemas.microsoft.com/office/powerpoint/2010/main" val="1938869630"/>
              </p:ext>
            </p:extLst>
          </p:nvPr>
        </p:nvGraphicFramePr>
        <p:xfrm>
          <a:off x="78657" y="98322"/>
          <a:ext cx="12005189" cy="6668676"/>
        </p:xfrm>
        <a:graphic>
          <a:graphicData uri="http://schemas.openxmlformats.org/drawingml/2006/table">
            <a:tbl>
              <a:tblPr firstRow="1" bandRow="1">
                <a:tableStyleId>{5C22544A-7EE6-4342-B048-85BDC9FD1C3A}</a:tableStyleId>
              </a:tblPr>
              <a:tblGrid>
                <a:gridCol w="590085">
                  <a:extLst>
                    <a:ext uri="{9D8B030D-6E8A-4147-A177-3AD203B41FA5}">
                      <a16:colId xmlns:a16="http://schemas.microsoft.com/office/drawing/2014/main" val="171627280"/>
                    </a:ext>
                  </a:extLst>
                </a:gridCol>
                <a:gridCol w="3550688">
                  <a:extLst>
                    <a:ext uri="{9D8B030D-6E8A-4147-A177-3AD203B41FA5}">
                      <a16:colId xmlns:a16="http://schemas.microsoft.com/office/drawing/2014/main" val="2012246963"/>
                    </a:ext>
                  </a:extLst>
                </a:gridCol>
                <a:gridCol w="2836480">
                  <a:extLst>
                    <a:ext uri="{9D8B030D-6E8A-4147-A177-3AD203B41FA5}">
                      <a16:colId xmlns:a16="http://schemas.microsoft.com/office/drawing/2014/main" val="3327883905"/>
                    </a:ext>
                  </a:extLst>
                </a:gridCol>
                <a:gridCol w="2325751">
                  <a:extLst>
                    <a:ext uri="{9D8B030D-6E8A-4147-A177-3AD203B41FA5}">
                      <a16:colId xmlns:a16="http://schemas.microsoft.com/office/drawing/2014/main" val="2396680088"/>
                    </a:ext>
                  </a:extLst>
                </a:gridCol>
                <a:gridCol w="2702185">
                  <a:extLst>
                    <a:ext uri="{9D8B030D-6E8A-4147-A177-3AD203B41FA5}">
                      <a16:colId xmlns:a16="http://schemas.microsoft.com/office/drawing/2014/main" val="2657191236"/>
                    </a:ext>
                  </a:extLst>
                </a:gridCol>
              </a:tblGrid>
              <a:tr h="1070980">
                <a:tc>
                  <a:txBody>
                    <a:bodyPr/>
                    <a:lstStyle/>
                    <a:p>
                      <a:r>
                        <a:rPr lang="en-IN" sz="1400" dirty="0"/>
                        <a:t>SI.NO</a:t>
                      </a:r>
                    </a:p>
                  </a:txBody>
                  <a:tcPr marL="45720" marR="45720"/>
                </a:tc>
                <a:tc>
                  <a:txBody>
                    <a:bodyPr/>
                    <a:lstStyle/>
                    <a:p>
                      <a:r>
                        <a:rPr lang="en-IN" sz="1500" dirty="0"/>
                        <a:t>PAPER TITLE AND YEAR</a:t>
                      </a:r>
                    </a:p>
                  </a:txBody>
                  <a:tcPr marL="45720" marR="45720"/>
                </a:tc>
                <a:tc>
                  <a:txBody>
                    <a:bodyPr/>
                    <a:lstStyle/>
                    <a:p>
                      <a:r>
                        <a:rPr lang="en-IN" sz="1500" dirty="0"/>
                        <a:t>METHODOLOGY</a:t>
                      </a:r>
                    </a:p>
                  </a:txBody>
                  <a:tcPr marL="45720" marR="45720"/>
                </a:tc>
                <a:tc>
                  <a:txBody>
                    <a:bodyPr/>
                    <a:lstStyle/>
                    <a:p>
                      <a:r>
                        <a:rPr lang="en-IN" sz="1500" dirty="0"/>
                        <a:t>EVALUATION METRICS</a:t>
                      </a:r>
                    </a:p>
                    <a:p>
                      <a:r>
                        <a:rPr lang="en-IN" sz="1500" dirty="0"/>
                        <a:t>ACCURACY REPORTED </a:t>
                      </a:r>
                    </a:p>
                  </a:txBody>
                  <a:tcPr marL="45720" marR="45720"/>
                </a:tc>
                <a:tc>
                  <a:txBody>
                    <a:bodyPr/>
                    <a:lstStyle/>
                    <a:p>
                      <a:r>
                        <a:rPr lang="en-IN" sz="1500" dirty="0"/>
                        <a:t>GAPS IDENTIFIED</a:t>
                      </a:r>
                    </a:p>
                  </a:txBody>
                  <a:tcPr marL="45720" marR="45720"/>
                </a:tc>
                <a:extLst>
                  <a:ext uri="{0D108BD9-81ED-4DB2-BD59-A6C34878D82A}">
                    <a16:rowId xmlns:a16="http://schemas.microsoft.com/office/drawing/2014/main" val="133350589"/>
                  </a:ext>
                </a:extLst>
              </a:tr>
              <a:tr h="1697594">
                <a:tc>
                  <a:txBody>
                    <a:bodyPr/>
                    <a:lstStyle/>
                    <a:p>
                      <a:r>
                        <a:rPr lang="en-IN" sz="1500" dirty="0"/>
                        <a:t>7</a:t>
                      </a:r>
                    </a:p>
                  </a:txBody>
                  <a:tcPr marL="45720" marR="45720"/>
                </a:tc>
                <a:tc>
                  <a:txBody>
                    <a:bodyPr/>
                    <a:lstStyle/>
                    <a:p>
                      <a:r>
                        <a:rPr lang="en-US" sz="1500" dirty="0"/>
                        <a:t>Emotions Unveiled: Detecting COVID-19 Fake News on Social Media (2024)</a:t>
                      </a:r>
                      <a:endParaRPr lang="en-IN" sz="1500" dirty="0"/>
                    </a:p>
                  </a:txBody>
                  <a:tcPr marL="45720" marR="45720"/>
                </a:tc>
                <a:tc>
                  <a:txBody>
                    <a:bodyPr/>
                    <a:lstStyle/>
                    <a:p>
                      <a:r>
                        <a:rPr lang="en-US" sz="1400" dirty="0"/>
                        <a:t>Extracted sentiment (VADER, </a:t>
                      </a:r>
                      <a:r>
                        <a:rPr lang="en-US" sz="1400" dirty="0" err="1"/>
                        <a:t>TextBlob</a:t>
                      </a:r>
                      <a:r>
                        <a:rPr lang="en-US" sz="1400" dirty="0"/>
                        <a:t>, </a:t>
                      </a:r>
                      <a:r>
                        <a:rPr lang="en-US" sz="1400" dirty="0" err="1"/>
                        <a:t>SentiWordNet</a:t>
                      </a:r>
                      <a:r>
                        <a:rPr lang="en-US" sz="1400" dirty="0"/>
                        <a:t>) and emotion features (NRC Emotion Lexicon), then trained Random Forest, SVM, Naïve Bayes, and BERT classifiers to compare performance with and without emotional features.</a:t>
                      </a:r>
                      <a:endParaRPr lang="en-IN" sz="1400" dirty="0"/>
                    </a:p>
                  </a:txBody>
                  <a:tcPr marL="45720" marR="45720"/>
                </a:tc>
                <a:tc>
                  <a:txBody>
                    <a:bodyPr/>
                    <a:lstStyle/>
                    <a:p>
                      <a:r>
                        <a:rPr lang="en-IN" sz="1400" dirty="0"/>
                        <a:t>Accuracy, Precision, Recall, F1-score.</a:t>
                      </a:r>
                    </a:p>
                    <a:p>
                      <a:endParaRPr lang="en-IN" sz="1400" dirty="0"/>
                    </a:p>
                    <a:p>
                      <a:r>
                        <a:rPr lang="en-IN" sz="1400" dirty="0" err="1"/>
                        <a:t>Accuracy:N</a:t>
                      </a:r>
                      <a:r>
                        <a:rPr lang="en-IN" sz="1400" dirty="0"/>
                        <a:t>/A (No single overall accuracy reported)</a:t>
                      </a:r>
                    </a:p>
                  </a:txBody>
                  <a:tcPr marL="45720" marR="45720"/>
                </a:tc>
                <a:tc>
                  <a:txBody>
                    <a:bodyPr/>
                    <a:lstStyle/>
                    <a:p>
                      <a:r>
                        <a:rPr lang="en-US" sz="1400" dirty="0"/>
                        <a:t>Focuses only on textual sentiment/emotion analysis for COVID-19 tweets. Does not utilize multimodal content (images/videos/PDFs) or explainable AI.</a:t>
                      </a:r>
                      <a:endParaRPr lang="en-IN" sz="1400" dirty="0"/>
                    </a:p>
                  </a:txBody>
                  <a:tcPr marL="45720" marR="45720"/>
                </a:tc>
                <a:extLst>
                  <a:ext uri="{0D108BD9-81ED-4DB2-BD59-A6C34878D82A}">
                    <a16:rowId xmlns:a16="http://schemas.microsoft.com/office/drawing/2014/main" val="2514613085"/>
                  </a:ext>
                </a:extLst>
              </a:tr>
              <a:tr h="1495499">
                <a:tc>
                  <a:txBody>
                    <a:bodyPr/>
                    <a:lstStyle/>
                    <a:p>
                      <a:r>
                        <a:rPr lang="en-IN" sz="1500" dirty="0"/>
                        <a:t>8</a:t>
                      </a:r>
                    </a:p>
                  </a:txBody>
                  <a:tcPr marL="45720" marR="45720"/>
                </a:tc>
                <a:tc>
                  <a:txBody>
                    <a:bodyPr/>
                    <a:lstStyle/>
                    <a:p>
                      <a:r>
                        <a:rPr lang="en-US" sz="1500" dirty="0"/>
                        <a:t>Classifying and Fact-Checking Health-Related Information about COVID-19 on Twitter/X Using Machine Learning and Deep Learning Models (2025)</a:t>
                      </a:r>
                      <a:endParaRPr lang="en-IN" sz="1500" dirty="0"/>
                    </a:p>
                  </a:txBody>
                  <a:tcPr marL="45720" marR="45720"/>
                </a:tc>
                <a:tc>
                  <a:txBody>
                    <a:bodyPr/>
                    <a:lstStyle/>
                    <a:p>
                      <a:r>
                        <a:rPr lang="en-IN" sz="1400" dirty="0"/>
                        <a:t>Compared 7 ML/DL models (DT, RF, SVM, GRU, LSTM, </a:t>
                      </a:r>
                      <a:r>
                        <a:rPr lang="en-IN" sz="1400" dirty="0" err="1"/>
                        <a:t>TextConvoNet</a:t>
                      </a:r>
                      <a:r>
                        <a:rPr lang="en-IN" sz="1400" dirty="0"/>
                        <a:t>, Stacking Ensemble). Used cosine similarity to balance the dataset before classification.</a:t>
                      </a:r>
                    </a:p>
                  </a:txBody>
                  <a:tcPr marL="45720" marR="45720"/>
                </a:tc>
                <a:tc>
                  <a:txBody>
                    <a:bodyPr/>
                    <a:lstStyle/>
                    <a:p>
                      <a:r>
                        <a:rPr lang="en-IN" sz="1400" dirty="0"/>
                        <a:t>Accuracy, Precision, Recall, F1-score, ROC Curve, AUC.</a:t>
                      </a:r>
                    </a:p>
                    <a:p>
                      <a:r>
                        <a:rPr lang="en-US" sz="1400" dirty="0" err="1"/>
                        <a:t>TextConvoNet</a:t>
                      </a:r>
                      <a:r>
                        <a:rPr lang="en-US" sz="1400" dirty="0"/>
                        <a:t> achieved 90.28% accuracy, 90.29% F1-score, and 0.901 ROC-AUC.</a:t>
                      </a:r>
                      <a:endParaRPr lang="en-IN" sz="1400" dirty="0"/>
                    </a:p>
                  </a:txBody>
                  <a:tcPr marL="45720" marR="45720"/>
                </a:tc>
                <a:tc>
                  <a:txBody>
                    <a:bodyPr/>
                    <a:lstStyle/>
                    <a:p>
                      <a:r>
                        <a:rPr lang="en-US" sz="1400" dirty="0"/>
                        <a:t>Limited to text-only COVID-19 Twitter data. Does not analyze images, videos, PDFs, or general-domain misinformation.</a:t>
                      </a:r>
                      <a:endParaRPr lang="en-IN" sz="1400" dirty="0"/>
                    </a:p>
                  </a:txBody>
                  <a:tcPr marL="45720" marR="45720"/>
                </a:tc>
                <a:extLst>
                  <a:ext uri="{0D108BD9-81ED-4DB2-BD59-A6C34878D82A}">
                    <a16:rowId xmlns:a16="http://schemas.microsoft.com/office/drawing/2014/main" val="4246781700"/>
                  </a:ext>
                </a:extLst>
              </a:tr>
              <a:tr h="2303877">
                <a:tc>
                  <a:txBody>
                    <a:bodyPr/>
                    <a:lstStyle/>
                    <a:p>
                      <a:r>
                        <a:rPr lang="en-IN" sz="1500" dirty="0"/>
                        <a:t>9</a:t>
                      </a:r>
                    </a:p>
                  </a:txBody>
                  <a:tcPr marL="45720" marR="45720"/>
                </a:tc>
                <a:tc>
                  <a:txBody>
                    <a:bodyPr/>
                    <a:lstStyle/>
                    <a:p>
                      <a:r>
                        <a:rPr lang="en-US" sz="1500" dirty="0"/>
                        <a:t>LLM-Enhanced Multimodal Detection of Fake News (2024)</a:t>
                      </a:r>
                      <a:endParaRPr lang="en-IN" sz="1500" dirty="0"/>
                    </a:p>
                  </a:txBody>
                  <a:tcPr marL="45720" marR="45720"/>
                </a:tc>
                <a:tc>
                  <a:txBody>
                    <a:bodyPr/>
                    <a:lstStyle/>
                    <a:p>
                      <a:r>
                        <a:rPr lang="en-IN" sz="1400" dirty="0"/>
                        <a:t>Proposed FND-LLM framework combining BERT, Vision Transformer (</a:t>
                      </a:r>
                      <a:r>
                        <a:rPr lang="en-IN" sz="1400" dirty="0" err="1"/>
                        <a:t>ViT</a:t>
                      </a:r>
                      <a:r>
                        <a:rPr lang="en-IN" sz="1400" dirty="0"/>
                        <a:t>), CLIP, Co-Attention Transformer, </a:t>
                      </a:r>
                      <a:r>
                        <a:rPr lang="en-IN" sz="1400" dirty="0" err="1"/>
                        <a:t>EAViT</a:t>
                      </a:r>
                      <a:r>
                        <a:rPr lang="en-IN" sz="1400" dirty="0"/>
                        <a:t> (image tampering detection), LLM reasoning module, and </a:t>
                      </a:r>
                      <a:r>
                        <a:rPr lang="en-IN" sz="1400" dirty="0" err="1"/>
                        <a:t>MMoE</a:t>
                      </a:r>
                      <a:r>
                        <a:rPr lang="en-IN" sz="1400" dirty="0"/>
                        <a:t> feature integration for multimodal fake news detection.</a:t>
                      </a:r>
                    </a:p>
                  </a:txBody>
                  <a:tcPr marL="45720" marR="45720"/>
                </a:tc>
                <a:tc>
                  <a:txBody>
                    <a:bodyPr/>
                    <a:lstStyle/>
                    <a:p>
                      <a:r>
                        <a:rPr lang="en-US" sz="1400" dirty="0"/>
                        <a:t>Accuracy, Precision, Recall, F1-score (evaluated on Weibo, </a:t>
                      </a:r>
                      <a:r>
                        <a:rPr lang="en-US" sz="1400" dirty="0" err="1"/>
                        <a:t>GossipCop</a:t>
                      </a:r>
                      <a:r>
                        <a:rPr lang="en-US" sz="1400" dirty="0"/>
                        <a:t>, and </a:t>
                      </a:r>
                      <a:r>
                        <a:rPr lang="en-US" sz="1400" dirty="0" err="1"/>
                        <a:t>Politifact</a:t>
                      </a:r>
                      <a:r>
                        <a:rPr lang="en-US" sz="1400" dirty="0"/>
                        <a:t> datasets).</a:t>
                      </a:r>
                    </a:p>
                    <a:p>
                      <a:endParaRPr lang="en-IN" sz="1400" dirty="0"/>
                    </a:p>
                    <a:p>
                      <a:r>
                        <a:rPr lang="en-US" sz="1400" dirty="0"/>
                        <a:t>Accuracy improved by 0.7% (Weibo), 6.8% (</a:t>
                      </a:r>
                      <a:r>
                        <a:rPr lang="en-US" sz="1400" dirty="0" err="1"/>
                        <a:t>GossipCop</a:t>
                      </a:r>
                      <a:r>
                        <a:rPr lang="en-US" sz="1400" dirty="0"/>
                        <a:t>), and 1.3% (</a:t>
                      </a:r>
                      <a:r>
                        <a:rPr lang="en-US" sz="1400" dirty="0" err="1"/>
                        <a:t>Politifact</a:t>
                      </a:r>
                      <a:r>
                        <a:rPr lang="en-US" sz="1400" dirty="0"/>
                        <a:t>) over existing methods.</a:t>
                      </a:r>
                      <a:endParaRPr lang="en-IN" sz="1400" b="1" dirty="0"/>
                    </a:p>
                  </a:txBody>
                  <a:tcPr marL="45720" marR="45720"/>
                </a:tc>
                <a:tc>
                  <a:txBody>
                    <a:bodyPr/>
                    <a:lstStyle/>
                    <a:p>
                      <a:r>
                        <a:rPr lang="en-US" sz="1400" dirty="0"/>
                        <a:t>Uses computationally expensive LLMs and focuses only on text-image multimodal news. Does not support PDF/video inputs or lightweight deployment.</a:t>
                      </a:r>
                      <a:endParaRPr lang="en-IN" sz="1400" dirty="0"/>
                    </a:p>
                  </a:txBody>
                  <a:tcPr marL="45720" marR="45720"/>
                </a:tc>
                <a:extLst>
                  <a:ext uri="{0D108BD9-81ED-4DB2-BD59-A6C34878D82A}">
                    <a16:rowId xmlns:a16="http://schemas.microsoft.com/office/drawing/2014/main" val="1389127048"/>
                  </a:ext>
                </a:extLst>
              </a:tr>
            </a:tbl>
          </a:graphicData>
        </a:graphic>
      </p:graphicFrame>
    </p:spTree>
    <p:extLst>
      <p:ext uri="{BB962C8B-B14F-4D97-AF65-F5344CB8AC3E}">
        <p14:creationId xmlns:p14="http://schemas.microsoft.com/office/powerpoint/2010/main" val="559226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E848A-C2F3-D853-4E6A-2331921B27BF}"/>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7BDA200-4C29-13EF-A051-7BDC8A2CA9BB}"/>
              </a:ext>
            </a:extLst>
          </p:cNvPr>
          <p:cNvGraphicFramePr>
            <a:graphicFrameLocks noGrp="1"/>
          </p:cNvGraphicFramePr>
          <p:nvPr>
            <p:ph idx="1"/>
            <p:extLst>
              <p:ext uri="{D42A27DB-BD31-4B8C-83A1-F6EECF244321}">
                <p14:modId xmlns:p14="http://schemas.microsoft.com/office/powerpoint/2010/main" val="124244502"/>
              </p:ext>
            </p:extLst>
          </p:nvPr>
        </p:nvGraphicFramePr>
        <p:xfrm>
          <a:off x="103239" y="131752"/>
          <a:ext cx="11985521" cy="6594495"/>
        </p:xfrm>
        <a:graphic>
          <a:graphicData uri="http://schemas.openxmlformats.org/drawingml/2006/table">
            <a:tbl>
              <a:tblPr firstRow="1" bandRow="1">
                <a:tableStyleId>{5C22544A-7EE6-4342-B048-85BDC9FD1C3A}</a:tableStyleId>
              </a:tblPr>
              <a:tblGrid>
                <a:gridCol w="692077">
                  <a:extLst>
                    <a:ext uri="{9D8B030D-6E8A-4147-A177-3AD203B41FA5}">
                      <a16:colId xmlns:a16="http://schemas.microsoft.com/office/drawing/2014/main" val="171627280"/>
                    </a:ext>
                  </a:extLst>
                </a:gridCol>
                <a:gridCol w="2513239">
                  <a:extLst>
                    <a:ext uri="{9D8B030D-6E8A-4147-A177-3AD203B41FA5}">
                      <a16:colId xmlns:a16="http://schemas.microsoft.com/office/drawing/2014/main" val="2012246963"/>
                    </a:ext>
                  </a:extLst>
                </a:gridCol>
                <a:gridCol w="3746090">
                  <a:extLst>
                    <a:ext uri="{9D8B030D-6E8A-4147-A177-3AD203B41FA5}">
                      <a16:colId xmlns:a16="http://schemas.microsoft.com/office/drawing/2014/main" val="3327883905"/>
                    </a:ext>
                  </a:extLst>
                </a:gridCol>
                <a:gridCol w="2320413">
                  <a:extLst>
                    <a:ext uri="{9D8B030D-6E8A-4147-A177-3AD203B41FA5}">
                      <a16:colId xmlns:a16="http://schemas.microsoft.com/office/drawing/2014/main" val="2396680088"/>
                    </a:ext>
                  </a:extLst>
                </a:gridCol>
                <a:gridCol w="2713702">
                  <a:extLst>
                    <a:ext uri="{9D8B030D-6E8A-4147-A177-3AD203B41FA5}">
                      <a16:colId xmlns:a16="http://schemas.microsoft.com/office/drawing/2014/main" val="2657191236"/>
                    </a:ext>
                  </a:extLst>
                </a:gridCol>
              </a:tblGrid>
              <a:tr h="589935">
                <a:tc>
                  <a:txBody>
                    <a:bodyPr/>
                    <a:lstStyle/>
                    <a:p>
                      <a:r>
                        <a:rPr lang="en-IN" sz="1500" dirty="0"/>
                        <a:t>SI.NO</a:t>
                      </a:r>
                    </a:p>
                  </a:txBody>
                  <a:tcPr marL="45720" marR="45720"/>
                </a:tc>
                <a:tc>
                  <a:txBody>
                    <a:bodyPr/>
                    <a:lstStyle/>
                    <a:p>
                      <a:r>
                        <a:rPr lang="en-IN" sz="1500" dirty="0"/>
                        <a:t>PAPER TITLE AND YEAR</a:t>
                      </a:r>
                    </a:p>
                  </a:txBody>
                  <a:tcPr marL="45720" marR="45720"/>
                </a:tc>
                <a:tc>
                  <a:txBody>
                    <a:bodyPr/>
                    <a:lstStyle/>
                    <a:p>
                      <a:r>
                        <a:rPr lang="en-IN" sz="1500" dirty="0"/>
                        <a:t>METHODOLOGY</a:t>
                      </a:r>
                    </a:p>
                  </a:txBody>
                  <a:tcPr marL="45720" marR="45720"/>
                </a:tc>
                <a:tc>
                  <a:txBody>
                    <a:bodyPr/>
                    <a:lstStyle/>
                    <a:p>
                      <a:r>
                        <a:rPr lang="en-IN" sz="1500" dirty="0"/>
                        <a:t>EVALUATION METRICS</a:t>
                      </a:r>
                    </a:p>
                    <a:p>
                      <a:r>
                        <a:rPr lang="en-IN" sz="1500" dirty="0"/>
                        <a:t>ACCURACY REPORTED </a:t>
                      </a:r>
                    </a:p>
                  </a:txBody>
                  <a:tcPr marL="45720" marR="45720"/>
                </a:tc>
                <a:tc>
                  <a:txBody>
                    <a:bodyPr/>
                    <a:lstStyle/>
                    <a:p>
                      <a:r>
                        <a:rPr lang="en-IN" sz="1500" dirty="0"/>
                        <a:t>GAPS IDENTIFIED</a:t>
                      </a:r>
                    </a:p>
                  </a:txBody>
                  <a:tcPr marL="45720" marR="45720"/>
                </a:tc>
                <a:extLst>
                  <a:ext uri="{0D108BD9-81ED-4DB2-BD59-A6C34878D82A}">
                    <a16:rowId xmlns:a16="http://schemas.microsoft.com/office/drawing/2014/main" val="133350589"/>
                  </a:ext>
                </a:extLst>
              </a:tr>
              <a:tr h="1964863">
                <a:tc>
                  <a:txBody>
                    <a:bodyPr/>
                    <a:lstStyle/>
                    <a:p>
                      <a:r>
                        <a:rPr lang="en-IN" sz="1500" dirty="0"/>
                        <a:t>10</a:t>
                      </a:r>
                    </a:p>
                  </a:txBody>
                  <a:tcPr marL="45720" marR="45720"/>
                </a:tc>
                <a:tc>
                  <a:txBody>
                    <a:bodyPr/>
                    <a:lstStyle/>
                    <a:p>
                      <a:r>
                        <a:rPr lang="en-US" sz="1500" dirty="0"/>
                        <a:t>Logic-based Analysis of Fake News Diffusion on Social Media (2025)</a:t>
                      </a:r>
                      <a:endParaRPr lang="en-IN" sz="1500" dirty="0"/>
                    </a:p>
                  </a:txBody>
                  <a:tcPr marL="45720" marR="45720"/>
                </a:tc>
                <a:tc>
                  <a:txBody>
                    <a:bodyPr/>
                    <a:lstStyle/>
                    <a:p>
                      <a:r>
                        <a:rPr lang="en-IN" sz="1300" dirty="0"/>
                        <a:t>Proposed a logic-based fake news detection framework using News-Diffusion Temporal Logic (NDTL). The framework constructs propagation graphs, discovers temporal logic rules (NDTL), and performs early fake news detection using a model checker. Unlike deep learning methods, it focuses on interpretable temporal diffusion patterns.</a:t>
                      </a:r>
                    </a:p>
                  </a:txBody>
                  <a:tcPr marL="45720" marR="45720"/>
                </a:tc>
                <a:tc>
                  <a:txBody>
                    <a:bodyPr/>
                    <a:lstStyle/>
                    <a:p>
                      <a:r>
                        <a:rPr lang="en-US" sz="1300" dirty="0"/>
                        <a:t>Precision, Recall, F1-score evaluated on Twitter15 and Twitter16 datasets, along with synthetic diffusion graphs.</a:t>
                      </a:r>
                      <a:endParaRPr lang="en-IN" sz="1300" dirty="0"/>
                    </a:p>
                    <a:p>
                      <a:r>
                        <a:rPr lang="en-US" sz="1300" b="1" dirty="0"/>
                        <a:t>NDTL achieved F1-scores of 0.664 (Twitter15) and 0.613 (Twitter16) for fake news detection. It also achieved precision up to 0.833 (Twitter15) and 0.783 (Twitter16)</a:t>
                      </a:r>
                      <a:endParaRPr lang="en-IN" sz="1300" dirty="0"/>
                    </a:p>
                  </a:txBody>
                  <a:tcPr marL="45720" marR="45720"/>
                </a:tc>
                <a:tc>
                  <a:txBody>
                    <a:bodyPr/>
                    <a:lstStyle/>
                    <a:p>
                      <a:r>
                        <a:rPr lang="en-US" sz="1300" dirty="0"/>
                        <a:t>Focuses only on news diffusion patterns in social networks rather than multimodal content. It does not analyze text, images, PDFs, or videos, and its detection depends on the availability of propagation data, making it less suitable for detecting fake news immediately after publication.</a:t>
                      </a:r>
                      <a:endParaRPr lang="en-IN" sz="1300" dirty="0"/>
                    </a:p>
                  </a:txBody>
                  <a:tcPr marL="45720" marR="45720"/>
                </a:tc>
                <a:extLst>
                  <a:ext uri="{0D108BD9-81ED-4DB2-BD59-A6C34878D82A}">
                    <a16:rowId xmlns:a16="http://schemas.microsoft.com/office/drawing/2014/main" val="2514613085"/>
                  </a:ext>
                </a:extLst>
              </a:tr>
              <a:tr h="2094722">
                <a:tc>
                  <a:txBody>
                    <a:bodyPr/>
                    <a:lstStyle/>
                    <a:p>
                      <a:r>
                        <a:rPr lang="en-IN" sz="1500" dirty="0"/>
                        <a:t>11</a:t>
                      </a:r>
                    </a:p>
                  </a:txBody>
                  <a:tcPr marL="45720" marR="45720"/>
                </a:tc>
                <a:tc>
                  <a:txBody>
                    <a:bodyPr/>
                    <a:lstStyle/>
                    <a:p>
                      <a:r>
                        <a:rPr lang="en-US" sz="1500" dirty="0"/>
                        <a:t>COVID-19 Infodemic – Understanding Content Features in Detecting Fake News Using a Machine Learning Approach (2023)</a:t>
                      </a:r>
                      <a:endParaRPr lang="en-IN" sz="1500" dirty="0"/>
                    </a:p>
                  </a:txBody>
                  <a:tcPr marL="45720" marR="45720"/>
                </a:tc>
                <a:tc>
                  <a:txBody>
                    <a:bodyPr/>
                    <a:lstStyle/>
                    <a:p>
                      <a:r>
                        <a:rPr lang="en-IN" sz="1300" dirty="0"/>
                        <a:t>Proposed a traditional machine learning approach using textual and linguistic features (bigrams, Part-of-Speech tags, Type-Token Ratio, punctuation, stop words, sentence length, uppercase letters, etc.). Evaluated Decision Tree, Random Forest, Logistic Regression, SVM, and KNN classifiers on a COVID-19 fake news dataset.</a:t>
                      </a:r>
                    </a:p>
                  </a:txBody>
                  <a:tcPr marL="45720" marR="45720"/>
                </a:tc>
                <a:tc>
                  <a:txBody>
                    <a:bodyPr/>
                    <a:lstStyle/>
                    <a:p>
                      <a:r>
                        <a:rPr lang="en-US" sz="1300" dirty="0"/>
                        <a:t>Accuracy, Precision, Recall, and F1-score using 10-fold cross-validation.</a:t>
                      </a:r>
                    </a:p>
                    <a:p>
                      <a:r>
                        <a:rPr lang="en-US" sz="1300" dirty="0"/>
                        <a:t>SVM achieved the highest accuracy of 97.48% (with POS features), while Random Forest achieved 96.69%.</a:t>
                      </a:r>
                      <a:endParaRPr lang="en-IN" sz="1300" dirty="0"/>
                    </a:p>
                  </a:txBody>
                  <a:tcPr marL="45720" marR="45720"/>
                </a:tc>
                <a:tc>
                  <a:txBody>
                    <a:bodyPr/>
                    <a:lstStyle/>
                    <a:p>
                      <a:r>
                        <a:rPr lang="en-US" sz="1300" dirty="0"/>
                        <a:t>Limited to COVID-19 text news and traditional machine learning. Does not support multimodal inputs (images, PDFs, videos), lacks deep learning, explainable AI, and general-domain misinformation detection. The authors also note the use of a relatively small local dataset and recommend testing on larger datasets with additional linguistic features.</a:t>
                      </a:r>
                      <a:endParaRPr lang="en-IN" sz="1300" dirty="0"/>
                    </a:p>
                  </a:txBody>
                  <a:tcPr marL="45720" marR="45720"/>
                </a:tc>
                <a:extLst>
                  <a:ext uri="{0D108BD9-81ED-4DB2-BD59-A6C34878D82A}">
                    <a16:rowId xmlns:a16="http://schemas.microsoft.com/office/drawing/2014/main" val="4246781700"/>
                  </a:ext>
                </a:extLst>
              </a:tr>
              <a:tr h="1289629">
                <a:tc>
                  <a:txBody>
                    <a:bodyPr/>
                    <a:lstStyle/>
                    <a:p>
                      <a:r>
                        <a:rPr lang="en-IN" sz="1500" dirty="0"/>
                        <a:t>12</a:t>
                      </a:r>
                    </a:p>
                  </a:txBody>
                  <a:tcPr marL="45720" marR="45720"/>
                </a:tc>
                <a:tc>
                  <a:txBody>
                    <a:bodyPr/>
                    <a:lstStyle/>
                    <a:p>
                      <a:r>
                        <a:rPr lang="en-IN" sz="1500" dirty="0"/>
                        <a:t>A Fake News Detection Model Using the Integration of Multimodal Attention Mechanism and Residual Convolutional Network (2025)</a:t>
                      </a:r>
                    </a:p>
                  </a:txBody>
                  <a:tcPr marL="45720" marR="45720"/>
                </a:tc>
                <a:tc>
                  <a:txBody>
                    <a:bodyPr/>
                    <a:lstStyle/>
                    <a:p>
                      <a:r>
                        <a:rPr lang="en-IN" sz="1300" dirty="0"/>
                        <a:t>Residual CNN + Multi-head Attention + Cross-modal Alignment + Multimodal Feature Fusion (Text, Image &amp; Video).</a:t>
                      </a:r>
                    </a:p>
                  </a:txBody>
                  <a:tcPr marL="45720" marR="45720"/>
                </a:tc>
                <a:tc>
                  <a:txBody>
                    <a:bodyPr/>
                    <a:lstStyle/>
                    <a:p>
                      <a:r>
                        <a:rPr lang="en-IN" sz="1300" dirty="0"/>
                        <a:t>Accuracy, Precision, Recall, F1-score. </a:t>
                      </a:r>
                    </a:p>
                    <a:p>
                      <a:endParaRPr lang="en-IN" sz="1300" dirty="0"/>
                    </a:p>
                    <a:p>
                      <a:r>
                        <a:rPr lang="en-IN" sz="1300" dirty="0"/>
                        <a:t>Accuracy: </a:t>
                      </a:r>
                      <a:r>
                        <a:rPr lang="en-IN" sz="1300" b="1" dirty="0"/>
                        <a:t>97.7%</a:t>
                      </a:r>
                    </a:p>
                  </a:txBody>
                  <a:tcPr marL="45720" marR="45720"/>
                </a:tc>
                <a:tc>
                  <a:txBody>
                    <a:bodyPr/>
                    <a:lstStyle/>
                    <a:p>
                      <a:r>
                        <a:rPr lang="en-IN" sz="1300" dirty="0"/>
                        <a:t>Complex architecture with high computational cost; does not provide explainable predictions or integrated PDF analysis.</a:t>
                      </a:r>
                    </a:p>
                  </a:txBody>
                  <a:tcPr marL="45720" marR="45720"/>
                </a:tc>
                <a:extLst>
                  <a:ext uri="{0D108BD9-81ED-4DB2-BD59-A6C34878D82A}">
                    <a16:rowId xmlns:a16="http://schemas.microsoft.com/office/drawing/2014/main" val="1389127048"/>
                  </a:ext>
                </a:extLst>
              </a:tr>
            </a:tbl>
          </a:graphicData>
        </a:graphic>
      </p:graphicFrame>
    </p:spTree>
    <p:extLst>
      <p:ext uri="{BB962C8B-B14F-4D97-AF65-F5344CB8AC3E}">
        <p14:creationId xmlns:p14="http://schemas.microsoft.com/office/powerpoint/2010/main" val="381206554"/>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ainproject zeroth rebview">
      <a:majorFont>
        <a:latin typeface="Aptos"/>
        <a:ea typeface=""/>
        <a:cs typeface=""/>
      </a:majorFont>
      <a:minorFont>
        <a:latin typeface="Aptos"/>
        <a:ea typeface=""/>
        <a:cs typeface=""/>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212</TotalTime>
  <Words>1403</Words>
  <Application>Microsoft Office PowerPoint</Application>
  <PresentationFormat>Widescreen</PresentationFormat>
  <Paragraphs>111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Wingdings 3</vt:lpstr>
      <vt:lpstr>Facet</vt:lpstr>
      <vt:lpstr>AI-Powered Multimodal Misinformation Detection and Verification System  Literature Review</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Nemuel Sam Jerry</dc:creator>
  <cp:lastModifiedBy>Nemuel Sam Jerry</cp:lastModifiedBy>
  <cp:revision>9</cp:revision>
  <dcterms:created xsi:type="dcterms:W3CDTF">2026-07-20T17:18:07Z</dcterms:created>
  <dcterms:modified xsi:type="dcterms:W3CDTF">2026-07-28T17:08:34Z</dcterms:modified>
</cp:coreProperties>
</file>