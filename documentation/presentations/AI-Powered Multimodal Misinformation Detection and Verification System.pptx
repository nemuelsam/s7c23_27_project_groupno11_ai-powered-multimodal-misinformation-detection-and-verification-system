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8"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AAFC37E-97D2-4A21-8DFC-038BD1D6A2B7}">
          <p14:sldIdLst>
            <p14:sldId id="256"/>
            <p14:sldId id="257"/>
            <p14:sldId id="258"/>
            <p14:sldId id="259"/>
            <p14:sldId id="260"/>
            <p14:sldId id="268"/>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5"/>
            <a:ext cx="7766936"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2573130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098729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9"/>
            <a:ext cx="8596668" cy="182658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587211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5"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AED445-D933-4B0F-8721-E11208BBAD45}"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2520385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6" y="2160983"/>
            <a:ext cx="4185623"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75746" y="2737247"/>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9"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088385" y="2737247"/>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AED445-D933-4B0F-8721-E11208BBAD45}" type="datetimeFigureOut">
              <a:rPr lang="en-IN" smtClean="0"/>
              <a:t>21-07-2026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729414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AED445-D933-4B0F-8721-E11208BBAD45}" type="datetimeFigureOut">
              <a:rPr lang="en-IN" smtClean="0"/>
              <a:t>21-07-2026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473656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AED445-D933-4B0F-8721-E11208BBAD45}" type="datetimeFigureOut">
              <a:rPr lang="en-IN" smtClean="0"/>
              <a:t>21-07-2026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303579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4760462" y="514926"/>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2AED445-D933-4B0F-8721-E11208BBAD45}"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889310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4800600"/>
            <a:ext cx="8596667"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677335" y="5367338"/>
            <a:ext cx="8596667"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2AED445-D933-4B0F-8721-E11208BBAD45}"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4229481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43502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5"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
        <p:nvSpPr>
          <p:cNvPr id="20" name="TextBox 19"/>
          <p:cNvSpPr txBox="1"/>
          <p:nvPr/>
        </p:nvSpPr>
        <p:spPr>
          <a:xfrm>
            <a:off x="541871" y="790378"/>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23589152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705450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5"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
        <p:nvSpPr>
          <p:cNvPr id="24" name="TextBox 23"/>
          <p:cNvSpPr txBox="1"/>
          <p:nvPr/>
        </p:nvSpPr>
        <p:spPr>
          <a:xfrm>
            <a:off x="541871" y="790378"/>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74221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8588203"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778614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987993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4" y="609601"/>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160925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4"/>
            <a:ext cx="911939"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C2AED445-D933-4B0F-8721-E11208BBAD45}" type="datetimeFigureOut">
              <a:rPr lang="en-IN" smtClean="0"/>
              <a:t>21-07-2026</a:t>
            </a:fld>
            <a:endParaRPr lang="en-IN"/>
          </a:p>
        </p:txBody>
      </p:sp>
      <p:sp>
        <p:nvSpPr>
          <p:cNvPr id="5" name="Footer Placeholder 4"/>
          <p:cNvSpPr>
            <a:spLocks noGrp="1"/>
          </p:cNvSpPr>
          <p:nvPr>
            <p:ph type="ftr" sz="quarter" idx="3"/>
          </p:nvPr>
        </p:nvSpPr>
        <p:spPr>
          <a:xfrm>
            <a:off x="677335" y="6041364"/>
            <a:ext cx="6297612"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4" y="6041364"/>
            <a:ext cx="683339" cy="365125"/>
          </a:xfrm>
          <a:prstGeom prst="rect">
            <a:avLst/>
          </a:prstGeom>
        </p:spPr>
        <p:txBody>
          <a:bodyPr vert="horz" lIns="91440" tIns="45720" rIns="91440" bIns="45720" rtlCol="0" anchor="ctr"/>
          <a:lstStyle>
            <a:lvl1pPr algn="r">
              <a:defRPr sz="675">
                <a:solidFill>
                  <a:schemeClr val="accent1"/>
                </a:solidFill>
              </a:defRPr>
            </a:lvl1pPr>
          </a:lstStyle>
          <a:p>
            <a:fld id="{D2313AF0-C250-44CC-A038-705D28C1A20B}" type="slidenum">
              <a:rPr lang="en-IN" smtClean="0"/>
              <a:t>‹#›</a:t>
            </a:fld>
            <a:endParaRPr lang="en-IN"/>
          </a:p>
        </p:txBody>
      </p:sp>
    </p:spTree>
    <p:extLst>
      <p:ext uri="{BB962C8B-B14F-4D97-AF65-F5344CB8AC3E}">
        <p14:creationId xmlns:p14="http://schemas.microsoft.com/office/powerpoint/2010/main" val="74270849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FD186-F9AC-422D-EA35-2F3F7D43D3CF}"/>
              </a:ext>
            </a:extLst>
          </p:cNvPr>
          <p:cNvSpPr>
            <a:spLocks noGrp="1"/>
          </p:cNvSpPr>
          <p:nvPr>
            <p:ph type="ctrTitle"/>
          </p:nvPr>
        </p:nvSpPr>
        <p:spPr>
          <a:xfrm>
            <a:off x="765633" y="639754"/>
            <a:ext cx="8876439" cy="1646302"/>
          </a:xfrm>
        </p:spPr>
        <p:txBody>
          <a:bodyPr/>
          <a:lstStyle/>
          <a:p>
            <a:pPr algn="ctr"/>
            <a:r>
              <a:rPr lang="en-IN" u="sng" dirty="0"/>
              <a:t>AI-Powered Multimodal Misinformation Detection and Verification System</a:t>
            </a:r>
            <a:endParaRPr lang="en-IN" dirty="0"/>
          </a:p>
        </p:txBody>
      </p:sp>
      <p:sp>
        <p:nvSpPr>
          <p:cNvPr id="3" name="Subtitle 2">
            <a:extLst>
              <a:ext uri="{FF2B5EF4-FFF2-40B4-BE49-F238E27FC236}">
                <a16:creationId xmlns:a16="http://schemas.microsoft.com/office/drawing/2014/main" id="{B5C1564B-A020-E9E7-5B1B-28A9BECF6321}"/>
              </a:ext>
            </a:extLst>
          </p:cNvPr>
          <p:cNvSpPr>
            <a:spLocks noGrp="1"/>
          </p:cNvSpPr>
          <p:nvPr>
            <p:ph type="subTitle" idx="1"/>
          </p:nvPr>
        </p:nvSpPr>
        <p:spPr>
          <a:xfrm>
            <a:off x="5358581" y="3087329"/>
            <a:ext cx="5624051" cy="3913239"/>
          </a:xfrm>
        </p:spPr>
        <p:txBody>
          <a:bodyPr>
            <a:normAutofit/>
          </a:bodyPr>
          <a:lstStyle/>
          <a:p>
            <a:pPr algn="l"/>
            <a:r>
              <a:rPr lang="en-IN" sz="1400" dirty="0">
                <a:solidFill>
                  <a:schemeClr val="tx1"/>
                </a:solidFill>
              </a:rPr>
              <a:t>Presented By:</a:t>
            </a:r>
          </a:p>
          <a:p>
            <a:pPr lvl="3" algn="l"/>
            <a:r>
              <a:rPr lang="en-IN" sz="1400" dirty="0">
                <a:solidFill>
                  <a:schemeClr val="tx1"/>
                </a:solidFill>
              </a:rPr>
              <a:t>Vaishnavi Prasad</a:t>
            </a:r>
          </a:p>
          <a:p>
            <a:pPr lvl="3" algn="l"/>
            <a:r>
              <a:rPr lang="en-IN" sz="1400" dirty="0">
                <a:solidFill>
                  <a:schemeClr val="tx1"/>
                </a:solidFill>
              </a:rPr>
              <a:t>Nemuel Sam Jerry</a:t>
            </a:r>
          </a:p>
          <a:p>
            <a:pPr lvl="3" algn="l"/>
            <a:r>
              <a:rPr lang="en-IN" sz="1400" dirty="0">
                <a:solidFill>
                  <a:schemeClr val="tx1"/>
                </a:solidFill>
              </a:rPr>
              <a:t>Fathima Marjan M</a:t>
            </a:r>
          </a:p>
          <a:p>
            <a:pPr lvl="3" algn="l"/>
            <a:r>
              <a:rPr lang="en-IN" sz="1400" dirty="0">
                <a:solidFill>
                  <a:schemeClr val="tx1"/>
                </a:solidFill>
              </a:rPr>
              <a:t>Twinkle Francis</a:t>
            </a:r>
          </a:p>
          <a:p>
            <a:pPr algn="l"/>
            <a:endParaRPr lang="en-IN" sz="1400" dirty="0">
              <a:solidFill>
                <a:schemeClr val="tx1"/>
              </a:solidFill>
            </a:endParaRPr>
          </a:p>
          <a:p>
            <a:pPr algn="l">
              <a:spcBef>
                <a:spcPts val="0"/>
              </a:spcBef>
            </a:pPr>
            <a:r>
              <a:rPr lang="en-IN" sz="1400" dirty="0">
                <a:solidFill>
                  <a:schemeClr val="tx1"/>
                </a:solidFill>
              </a:rPr>
              <a:t>Project Guide: </a:t>
            </a:r>
            <a:r>
              <a:rPr lang="en-IN" sz="1800" dirty="0">
                <a:solidFill>
                  <a:schemeClr val="tx1"/>
                </a:solidFill>
              </a:rPr>
              <a:t>Nayana Chandran</a:t>
            </a:r>
          </a:p>
          <a:p>
            <a:pPr algn="l">
              <a:spcBef>
                <a:spcPts val="0"/>
              </a:spcBef>
            </a:pPr>
            <a:r>
              <a:rPr lang="en-IN" sz="1800" dirty="0">
                <a:solidFill>
                  <a:schemeClr val="tx1"/>
                </a:solidFill>
              </a:rPr>
              <a:t>			  </a:t>
            </a:r>
            <a:r>
              <a:rPr lang="en-IN" sz="1400" dirty="0">
                <a:solidFill>
                  <a:schemeClr val="tx1"/>
                </a:solidFill>
              </a:rPr>
              <a:t>Assistant Professor </a:t>
            </a:r>
          </a:p>
          <a:p>
            <a:pPr algn="l">
              <a:spcBef>
                <a:spcPts val="0"/>
              </a:spcBef>
            </a:pPr>
            <a:r>
              <a:rPr lang="en-IN" sz="1400" dirty="0">
                <a:solidFill>
                  <a:schemeClr val="tx1"/>
                </a:solidFill>
              </a:rPr>
              <a:t>			  Department of Computer Science &amp; Engineering</a:t>
            </a:r>
          </a:p>
          <a:p>
            <a:pPr algn="l"/>
            <a:endParaRPr lang="en-IN" dirty="0">
              <a:solidFill>
                <a:schemeClr val="tx1"/>
              </a:solidFill>
            </a:endParaRPr>
          </a:p>
        </p:txBody>
      </p:sp>
    </p:spTree>
    <p:extLst>
      <p:ext uri="{BB962C8B-B14F-4D97-AF65-F5344CB8AC3E}">
        <p14:creationId xmlns:p14="http://schemas.microsoft.com/office/powerpoint/2010/main" val="197270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82609-8B60-041D-C6CB-04947A1A79EC}"/>
              </a:ext>
            </a:extLst>
          </p:cNvPr>
          <p:cNvSpPr>
            <a:spLocks noGrp="1"/>
          </p:cNvSpPr>
          <p:nvPr>
            <p:ph type="ctrTitle"/>
          </p:nvPr>
        </p:nvSpPr>
        <p:spPr>
          <a:xfrm>
            <a:off x="-4038327" y="-112524"/>
            <a:ext cx="7766936" cy="1646302"/>
          </a:xfrm>
        </p:spPr>
        <p:txBody>
          <a:bodyPr/>
          <a:lstStyle/>
          <a:p>
            <a:r>
              <a:rPr lang="en-IN" dirty="0"/>
              <a:t>Abstract </a:t>
            </a:r>
          </a:p>
        </p:txBody>
      </p:sp>
      <p:sp>
        <p:nvSpPr>
          <p:cNvPr id="3" name="Subtitle 2">
            <a:extLst>
              <a:ext uri="{FF2B5EF4-FFF2-40B4-BE49-F238E27FC236}">
                <a16:creationId xmlns:a16="http://schemas.microsoft.com/office/drawing/2014/main" id="{5052A449-B101-2746-6468-FBD051A55A58}"/>
              </a:ext>
            </a:extLst>
          </p:cNvPr>
          <p:cNvSpPr>
            <a:spLocks noGrp="1"/>
          </p:cNvSpPr>
          <p:nvPr>
            <p:ph type="subTitle" idx="1"/>
          </p:nvPr>
        </p:nvSpPr>
        <p:spPr>
          <a:xfrm>
            <a:off x="894303" y="1533778"/>
            <a:ext cx="9093759" cy="5248859"/>
          </a:xfrm>
        </p:spPr>
        <p:txBody>
          <a:bodyPr>
            <a:normAutofit/>
          </a:bodyPr>
          <a:lstStyle/>
          <a:p>
            <a:pPr marL="342900" indent="-342900" algn="l">
              <a:lnSpc>
                <a:spcPct val="150000"/>
              </a:lnSpc>
              <a:buFont typeface="Wingdings" panose="05000000000000000000" pitchFamily="2" charset="2"/>
              <a:buChar char="q"/>
            </a:pPr>
            <a:r>
              <a:rPr lang="en-US" sz="1600" dirty="0">
                <a:solidFill>
                  <a:schemeClr val="tx1"/>
                </a:solidFill>
              </a:rPr>
              <a:t>Rapid growth of AI-generated content and deepfake technology has increased the spread of misinformation.</a:t>
            </a:r>
          </a:p>
          <a:p>
            <a:pPr marL="342900" indent="-342900" algn="l">
              <a:lnSpc>
                <a:spcPct val="150000"/>
              </a:lnSpc>
              <a:buFont typeface="Wingdings" panose="05000000000000000000" pitchFamily="2" charset="2"/>
              <a:buChar char="q"/>
            </a:pPr>
            <a:r>
              <a:rPr lang="en-US" sz="1600" dirty="0">
                <a:solidFill>
                  <a:schemeClr val="tx1"/>
                </a:solidFill>
              </a:rPr>
              <a:t>Existing fake news detection systems mainly focus on a single media type, limiting their effectiveness.</a:t>
            </a:r>
          </a:p>
          <a:p>
            <a:pPr marL="342900" indent="-342900" algn="l">
              <a:lnSpc>
                <a:spcPct val="150000"/>
              </a:lnSpc>
              <a:buFont typeface="Wingdings" panose="05000000000000000000" pitchFamily="2" charset="2"/>
              <a:buChar char="q"/>
            </a:pPr>
            <a:r>
              <a:rPr lang="en-US" sz="1600" dirty="0">
                <a:solidFill>
                  <a:schemeClr val="tx1"/>
                </a:solidFill>
              </a:rPr>
              <a:t>Proposed an AI-powered web application to detect misinformation in text, PDF documents, images, and videos.</a:t>
            </a:r>
          </a:p>
          <a:p>
            <a:pPr marL="342900" indent="-342900" algn="l">
              <a:lnSpc>
                <a:spcPct val="150000"/>
              </a:lnSpc>
              <a:buFont typeface="Wingdings" panose="05000000000000000000" pitchFamily="2" charset="2"/>
              <a:buChar char="q"/>
            </a:pPr>
            <a:r>
              <a:rPr lang="en-US" sz="1600" dirty="0">
                <a:solidFill>
                  <a:schemeClr val="tx1"/>
                </a:solidFill>
              </a:rPr>
              <a:t>Uses </a:t>
            </a:r>
            <a:r>
              <a:rPr lang="en-US" sz="1600" dirty="0" err="1">
                <a:solidFill>
                  <a:schemeClr val="tx1"/>
                </a:solidFill>
              </a:rPr>
              <a:t>DistilBERT</a:t>
            </a:r>
            <a:r>
              <a:rPr lang="en-US" sz="1600" dirty="0">
                <a:solidFill>
                  <a:schemeClr val="tx1"/>
                </a:solidFill>
              </a:rPr>
              <a:t> for text analysis, </a:t>
            </a:r>
            <a:r>
              <a:rPr lang="en-US" sz="1600" dirty="0" err="1">
                <a:solidFill>
                  <a:schemeClr val="tx1"/>
                </a:solidFill>
              </a:rPr>
              <a:t>EfficientNet</a:t>
            </a:r>
            <a:r>
              <a:rPr lang="en-US" sz="1600" dirty="0">
                <a:solidFill>
                  <a:schemeClr val="tx1"/>
                </a:solidFill>
              </a:rPr>
              <a:t> for image analysis, and a video analysis model for video analysis.</a:t>
            </a:r>
          </a:p>
          <a:p>
            <a:pPr marL="342900" indent="-342900" algn="l">
              <a:lnSpc>
                <a:spcPct val="150000"/>
              </a:lnSpc>
              <a:buFont typeface="Wingdings" panose="05000000000000000000" pitchFamily="2" charset="2"/>
              <a:buChar char="q"/>
            </a:pPr>
            <a:r>
              <a:rPr lang="en-US" sz="1600" dirty="0">
                <a:solidFill>
                  <a:schemeClr val="tx1"/>
                </a:solidFill>
              </a:rPr>
              <a:t>Combines predictions using a Multilayer Perceptron (MLP) and provides transparent explanations through SHAP Explainable AI.</a:t>
            </a:r>
          </a:p>
          <a:p>
            <a:pPr marL="342900" indent="-342900" algn="l">
              <a:lnSpc>
                <a:spcPct val="150000"/>
              </a:lnSpc>
              <a:buFont typeface="Wingdings" panose="05000000000000000000" pitchFamily="2" charset="2"/>
              <a:buChar char="q"/>
            </a:pPr>
            <a:r>
              <a:rPr lang="en-US" sz="1600" dirty="0">
                <a:solidFill>
                  <a:schemeClr val="tx1"/>
                </a:solidFill>
              </a:rPr>
              <a:t>Aims to provide accurate, scalable, and explainable multimodal misinformation detection through a unified platform.</a:t>
            </a:r>
            <a:endParaRPr lang="en-IN" dirty="0"/>
          </a:p>
        </p:txBody>
      </p:sp>
    </p:spTree>
    <p:extLst>
      <p:ext uri="{BB962C8B-B14F-4D97-AF65-F5344CB8AC3E}">
        <p14:creationId xmlns:p14="http://schemas.microsoft.com/office/powerpoint/2010/main" val="1254564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7B75A-409B-3F2A-DCB3-BF8C0BFB9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02456-A064-614F-D3E3-21C6F8099C17}"/>
              </a:ext>
            </a:extLst>
          </p:cNvPr>
          <p:cNvSpPr>
            <a:spLocks noGrp="1"/>
          </p:cNvSpPr>
          <p:nvPr>
            <p:ph type="ctrTitle"/>
          </p:nvPr>
        </p:nvSpPr>
        <p:spPr>
          <a:xfrm>
            <a:off x="-4038327" y="-112524"/>
            <a:ext cx="7766936" cy="1646302"/>
          </a:xfrm>
        </p:spPr>
        <p:txBody>
          <a:bodyPr/>
          <a:lstStyle/>
          <a:p>
            <a:r>
              <a:rPr lang="en-IN" dirty="0"/>
              <a:t>Introduction</a:t>
            </a:r>
          </a:p>
        </p:txBody>
      </p:sp>
      <p:sp>
        <p:nvSpPr>
          <p:cNvPr id="3" name="Subtitle 2">
            <a:extLst>
              <a:ext uri="{FF2B5EF4-FFF2-40B4-BE49-F238E27FC236}">
                <a16:creationId xmlns:a16="http://schemas.microsoft.com/office/drawing/2014/main" id="{DAE60A45-103A-8418-A24C-C9DA440D6D30}"/>
              </a:ext>
            </a:extLst>
          </p:cNvPr>
          <p:cNvSpPr>
            <a:spLocks noGrp="1"/>
          </p:cNvSpPr>
          <p:nvPr>
            <p:ph type="subTitle" idx="1"/>
          </p:nvPr>
        </p:nvSpPr>
        <p:spPr>
          <a:xfrm>
            <a:off x="894303" y="1533778"/>
            <a:ext cx="8943033" cy="4615813"/>
          </a:xfrm>
        </p:spPr>
        <p:txBody>
          <a:bodyPr>
            <a:normAutofit/>
          </a:bodyPr>
          <a:lstStyle/>
          <a:p>
            <a:pPr marL="285750" indent="-285750" algn="l">
              <a:lnSpc>
                <a:spcPct val="150000"/>
              </a:lnSpc>
              <a:buFont typeface="Wingdings" panose="05000000000000000000" pitchFamily="2" charset="2"/>
              <a:buChar char="Ø"/>
            </a:pPr>
            <a:r>
              <a:rPr lang="en-IN" sz="1600" dirty="0">
                <a:solidFill>
                  <a:schemeClr val="tx1"/>
                </a:solidFill>
              </a:rPr>
              <a:t>Social media has accelerated the spread of misinformation across digital platforms.</a:t>
            </a:r>
          </a:p>
          <a:p>
            <a:pPr marL="285750" indent="-285750" algn="l">
              <a:lnSpc>
                <a:spcPct val="150000"/>
              </a:lnSpc>
              <a:buFont typeface="Wingdings" panose="05000000000000000000" pitchFamily="2" charset="2"/>
              <a:buChar char="Ø"/>
            </a:pPr>
            <a:r>
              <a:rPr lang="en-IN" sz="1600" dirty="0">
                <a:solidFill>
                  <a:schemeClr val="tx1"/>
                </a:solidFill>
              </a:rPr>
              <a:t>AI technologies have enabled the creation of convincing fake text, manipulated images, and deepfake videos.</a:t>
            </a:r>
          </a:p>
          <a:p>
            <a:pPr marL="285750" indent="-285750" algn="l">
              <a:lnSpc>
                <a:spcPct val="150000"/>
              </a:lnSpc>
              <a:buFont typeface="Wingdings" panose="05000000000000000000" pitchFamily="2" charset="2"/>
              <a:buChar char="Ø"/>
            </a:pPr>
            <a:r>
              <a:rPr lang="en-IN" sz="1600" dirty="0">
                <a:solidFill>
                  <a:schemeClr val="tx1"/>
                </a:solidFill>
              </a:rPr>
              <a:t>Manual verification of such content is time-consuming and often unreliable.</a:t>
            </a:r>
          </a:p>
          <a:p>
            <a:pPr marL="285750" indent="-285750" algn="l">
              <a:lnSpc>
                <a:spcPct val="150000"/>
              </a:lnSpc>
              <a:buFont typeface="Wingdings" panose="05000000000000000000" pitchFamily="2" charset="2"/>
              <a:buChar char="Ø"/>
            </a:pPr>
            <a:r>
              <a:rPr lang="en-IN" sz="1600" dirty="0">
                <a:solidFill>
                  <a:schemeClr val="tx1"/>
                </a:solidFill>
              </a:rPr>
              <a:t>Artificial Intelligence can automatically analyse multiple media types to identify misinformation.</a:t>
            </a:r>
          </a:p>
          <a:p>
            <a:pPr marL="285750" indent="-285750" algn="l">
              <a:lnSpc>
                <a:spcPct val="150000"/>
              </a:lnSpc>
              <a:buFont typeface="Wingdings" panose="05000000000000000000" pitchFamily="2" charset="2"/>
              <a:buChar char="Ø"/>
            </a:pPr>
            <a:r>
              <a:rPr lang="en-IN" sz="1600" dirty="0">
                <a:solidFill>
                  <a:schemeClr val="tx1"/>
                </a:solidFill>
              </a:rPr>
              <a:t>The proposed system combines Natural Language Processing (NLP) and Computer Vision (CV) techniques to verify information from text, PDF documents, images, and videos within a single platform.</a:t>
            </a:r>
          </a:p>
          <a:p>
            <a:pPr algn="l">
              <a:lnSpc>
                <a:spcPct val="150000"/>
              </a:lnSpc>
            </a:pPr>
            <a:endParaRPr lang="en-IN" dirty="0">
              <a:solidFill>
                <a:schemeClr val="tx1"/>
              </a:solidFill>
            </a:endParaRPr>
          </a:p>
        </p:txBody>
      </p:sp>
    </p:spTree>
    <p:extLst>
      <p:ext uri="{BB962C8B-B14F-4D97-AF65-F5344CB8AC3E}">
        <p14:creationId xmlns:p14="http://schemas.microsoft.com/office/powerpoint/2010/main" val="4067738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2EDAA-ADFC-C743-3B08-6CBB5E589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92F18-1B1A-9516-8560-2C4C254D482F}"/>
              </a:ext>
            </a:extLst>
          </p:cNvPr>
          <p:cNvSpPr>
            <a:spLocks noGrp="1"/>
          </p:cNvSpPr>
          <p:nvPr>
            <p:ph type="ctrTitle"/>
          </p:nvPr>
        </p:nvSpPr>
        <p:spPr>
          <a:xfrm>
            <a:off x="-2490880" y="0"/>
            <a:ext cx="7766936" cy="1646302"/>
          </a:xfrm>
        </p:spPr>
        <p:txBody>
          <a:bodyPr/>
          <a:lstStyle/>
          <a:p>
            <a:r>
              <a:rPr lang="en-IN" dirty="0"/>
              <a:t>Problem Statement</a:t>
            </a:r>
          </a:p>
        </p:txBody>
      </p:sp>
      <p:sp>
        <p:nvSpPr>
          <p:cNvPr id="3" name="Subtitle 2">
            <a:extLst>
              <a:ext uri="{FF2B5EF4-FFF2-40B4-BE49-F238E27FC236}">
                <a16:creationId xmlns:a16="http://schemas.microsoft.com/office/drawing/2014/main" id="{C87A6759-B23A-3793-33FB-EFE9972D7FA5}"/>
              </a:ext>
            </a:extLst>
          </p:cNvPr>
          <p:cNvSpPr>
            <a:spLocks noGrp="1"/>
          </p:cNvSpPr>
          <p:nvPr>
            <p:ph type="subTitle" idx="1"/>
          </p:nvPr>
        </p:nvSpPr>
        <p:spPr>
          <a:xfrm>
            <a:off x="894303" y="1533778"/>
            <a:ext cx="8943033" cy="4615813"/>
          </a:xfrm>
        </p:spPr>
        <p:txBody>
          <a:bodyPr>
            <a:normAutofit/>
          </a:bodyPr>
          <a:lstStyle/>
          <a:p>
            <a:pPr algn="l">
              <a:lnSpc>
                <a:spcPct val="150000"/>
              </a:lnSpc>
            </a:pPr>
            <a:r>
              <a:rPr lang="en-IN" sz="1600" dirty="0">
                <a:solidFill>
                  <a:schemeClr val="tx1"/>
                </a:solidFill>
              </a:rPr>
              <a:t>The rapid spread of misinformation across digital platforms has become a significant challenge due to the increasing use of AI-generated content, manipulated images, and deepfake videos. Existing misinformation detection systems often focus on a single media type, resulting in limited accuracy and a lack of comprehensive verification across multiple content formats. Furthermore, many existing solutions provide little or no explanation for their predictions, making it difficult for users to trust the results.</a:t>
            </a:r>
            <a:endParaRPr lang="en-IN" dirty="0">
              <a:solidFill>
                <a:schemeClr val="tx1"/>
              </a:solidFill>
            </a:endParaRPr>
          </a:p>
        </p:txBody>
      </p:sp>
    </p:spTree>
    <p:extLst>
      <p:ext uri="{BB962C8B-B14F-4D97-AF65-F5344CB8AC3E}">
        <p14:creationId xmlns:p14="http://schemas.microsoft.com/office/powerpoint/2010/main" val="3131609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7BB4E-C4B3-1F00-939C-BD1109E83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968CC-DC1F-9706-50EA-9CB5ADEC5C4F}"/>
              </a:ext>
            </a:extLst>
          </p:cNvPr>
          <p:cNvSpPr>
            <a:spLocks noGrp="1"/>
          </p:cNvSpPr>
          <p:nvPr>
            <p:ph type="ctrTitle"/>
          </p:nvPr>
        </p:nvSpPr>
        <p:spPr>
          <a:xfrm>
            <a:off x="-2989165" y="-599768"/>
            <a:ext cx="7766936" cy="1646302"/>
          </a:xfrm>
        </p:spPr>
        <p:txBody>
          <a:bodyPr/>
          <a:lstStyle/>
          <a:p>
            <a:r>
              <a:rPr lang="en-IN" dirty="0"/>
              <a:t>Existing System</a:t>
            </a:r>
          </a:p>
        </p:txBody>
      </p:sp>
      <p:sp>
        <p:nvSpPr>
          <p:cNvPr id="3" name="Subtitle 2">
            <a:extLst>
              <a:ext uri="{FF2B5EF4-FFF2-40B4-BE49-F238E27FC236}">
                <a16:creationId xmlns:a16="http://schemas.microsoft.com/office/drawing/2014/main" id="{4AA03ABA-D06D-0054-2C05-75499D50F24A}"/>
              </a:ext>
            </a:extLst>
          </p:cNvPr>
          <p:cNvSpPr>
            <a:spLocks noGrp="1"/>
          </p:cNvSpPr>
          <p:nvPr>
            <p:ph type="subTitle" idx="1"/>
          </p:nvPr>
        </p:nvSpPr>
        <p:spPr>
          <a:xfrm>
            <a:off x="736987" y="1046533"/>
            <a:ext cx="9203426" cy="5963867"/>
          </a:xfrm>
        </p:spPr>
        <p:txBody>
          <a:bodyPr>
            <a:normAutofit/>
          </a:bodyPr>
          <a:lstStyle/>
          <a:p>
            <a:pPr algn="l"/>
            <a:endParaRPr lang="en-IN" sz="1600" dirty="0">
              <a:solidFill>
                <a:schemeClr val="tx1"/>
              </a:solidFill>
            </a:endParaRPr>
          </a:p>
          <a:p>
            <a:pPr algn="l"/>
            <a:r>
              <a:rPr lang="en-IN" sz="1600" dirty="0">
                <a:solidFill>
                  <a:schemeClr val="tx1"/>
                </a:solidFill>
              </a:rPr>
              <a:t>Paper 1: </a:t>
            </a:r>
            <a:r>
              <a:rPr lang="en-IN" sz="1600" u="sng" dirty="0">
                <a:solidFill>
                  <a:schemeClr val="tx1"/>
                </a:solidFill>
              </a:rPr>
              <a:t>Advanced Machine Learning Techniques for Fake News (Online Disinformation) Detection: A Systematic Mapping Study</a:t>
            </a:r>
          </a:p>
          <a:p>
            <a:pPr algn="l">
              <a:lnSpc>
                <a:spcPct val="150000"/>
              </a:lnSpc>
            </a:pPr>
            <a:endParaRPr lang="en-IN" sz="1600" u="sng" dirty="0">
              <a:solidFill>
                <a:schemeClr val="tx1"/>
              </a:solidFill>
            </a:endParaRPr>
          </a:p>
          <a:p>
            <a:pPr marL="285750" indent="-285750" algn="l">
              <a:lnSpc>
                <a:spcPct val="150000"/>
              </a:lnSpc>
              <a:buFont typeface="Arial" panose="020B0604020202020204" pitchFamily="34" charset="0"/>
              <a:buChar char="•"/>
            </a:pPr>
            <a:r>
              <a:rPr lang="en-IN" sz="1600" dirty="0">
                <a:solidFill>
                  <a:schemeClr val="tx1"/>
                </a:solidFill>
              </a:rPr>
              <a:t>Machine learning techniques for fake news detection. </a:t>
            </a:r>
          </a:p>
          <a:p>
            <a:pPr marL="285750" indent="-285750" algn="l">
              <a:lnSpc>
                <a:spcPct val="150000"/>
              </a:lnSpc>
              <a:buFont typeface="Arial" panose="020B0604020202020204" pitchFamily="34" charset="0"/>
              <a:buChar char="•"/>
            </a:pPr>
            <a:r>
              <a:rPr lang="en-IN" sz="1600" dirty="0">
                <a:solidFill>
                  <a:schemeClr val="tx1"/>
                </a:solidFill>
              </a:rPr>
              <a:t>Mainly focused on text-based misinformation. </a:t>
            </a:r>
          </a:p>
          <a:p>
            <a:pPr marL="285750" indent="-285750" algn="l">
              <a:buFont typeface="Arial" panose="020B0604020202020204" pitchFamily="34" charset="0"/>
              <a:buChar char="•"/>
            </a:pPr>
            <a:endParaRPr lang="en-IN" sz="1600" dirty="0">
              <a:solidFill>
                <a:schemeClr val="tx1"/>
              </a:solidFill>
            </a:endParaRPr>
          </a:p>
          <a:p>
            <a:pPr marL="285750" indent="-285750" algn="l">
              <a:buFont typeface="Arial" panose="020B0604020202020204" pitchFamily="34" charset="0"/>
              <a:buChar char="•"/>
            </a:pPr>
            <a:endParaRPr lang="en-IN" sz="1600" dirty="0">
              <a:solidFill>
                <a:schemeClr val="tx1"/>
              </a:solidFill>
            </a:endParaRPr>
          </a:p>
          <a:p>
            <a:pPr algn="l"/>
            <a:r>
              <a:rPr lang="en-IN" sz="1600" dirty="0">
                <a:solidFill>
                  <a:schemeClr val="tx1"/>
                </a:solidFill>
              </a:rPr>
              <a:t>Paper 2: </a:t>
            </a:r>
            <a:r>
              <a:rPr lang="en-IN" sz="1600" u="sng" dirty="0">
                <a:solidFill>
                  <a:schemeClr val="tx1"/>
                </a:solidFill>
              </a:rPr>
              <a:t>A multi-level fusion-based framework for multimodal fake news classification using semantic feature extraction</a:t>
            </a:r>
          </a:p>
          <a:p>
            <a:pPr algn="l">
              <a:lnSpc>
                <a:spcPct val="150000"/>
              </a:lnSpc>
            </a:pPr>
            <a:endParaRPr lang="en-IN" sz="1600" u="sng" dirty="0">
              <a:solidFill>
                <a:schemeClr val="tx1"/>
              </a:solidFill>
            </a:endParaRPr>
          </a:p>
          <a:p>
            <a:pPr marL="285750" indent="-285750" algn="l">
              <a:lnSpc>
                <a:spcPct val="150000"/>
              </a:lnSpc>
              <a:buFont typeface="Arial" panose="020B0604020202020204" pitchFamily="34" charset="0"/>
              <a:buChar char="•"/>
            </a:pPr>
            <a:r>
              <a:rPr lang="en-IN" sz="1600" dirty="0">
                <a:solidFill>
                  <a:schemeClr val="tx1"/>
                </a:solidFill>
              </a:rPr>
              <a:t>Multimodal fake news detection using semantic feature extraction. </a:t>
            </a:r>
          </a:p>
          <a:p>
            <a:pPr marL="285750" indent="-285750" algn="l">
              <a:lnSpc>
                <a:spcPct val="150000"/>
              </a:lnSpc>
              <a:buFont typeface="Arial" panose="020B0604020202020204" pitchFamily="34" charset="0"/>
              <a:buChar char="•"/>
            </a:pPr>
            <a:r>
              <a:rPr lang="en-IN" sz="1600" dirty="0">
                <a:solidFill>
                  <a:schemeClr val="tx1"/>
                </a:solidFill>
              </a:rPr>
              <a:t>Supports text and image analysis. </a:t>
            </a:r>
          </a:p>
          <a:p>
            <a:pPr marL="285750" indent="-285750" algn="l">
              <a:buFont typeface="Arial" panose="020B0604020202020204" pitchFamily="34" charset="0"/>
              <a:buChar char="•"/>
            </a:pPr>
            <a:endParaRPr lang="en-IN" sz="1600" dirty="0">
              <a:solidFill>
                <a:schemeClr val="tx1"/>
              </a:solidFill>
            </a:endParaRPr>
          </a:p>
          <a:p>
            <a:pPr algn="l"/>
            <a:endParaRPr lang="en-IN" sz="1600" dirty="0">
              <a:solidFill>
                <a:schemeClr val="tx1"/>
              </a:solidFill>
            </a:endParaRPr>
          </a:p>
        </p:txBody>
      </p:sp>
    </p:spTree>
    <p:extLst>
      <p:ext uri="{BB962C8B-B14F-4D97-AF65-F5344CB8AC3E}">
        <p14:creationId xmlns:p14="http://schemas.microsoft.com/office/powerpoint/2010/main" val="427717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06B57-FECE-7174-A0F5-0913F2C6DFD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BD7B837-8577-46B2-B5FF-7E7C4319937C}"/>
              </a:ext>
            </a:extLst>
          </p:cNvPr>
          <p:cNvSpPr>
            <a:spLocks noGrp="1"/>
          </p:cNvSpPr>
          <p:nvPr>
            <p:ph type="subTitle" idx="1"/>
          </p:nvPr>
        </p:nvSpPr>
        <p:spPr>
          <a:xfrm>
            <a:off x="736987" y="1046533"/>
            <a:ext cx="9203426" cy="5963867"/>
          </a:xfrm>
        </p:spPr>
        <p:txBody>
          <a:bodyPr>
            <a:normAutofit/>
          </a:bodyPr>
          <a:lstStyle/>
          <a:p>
            <a:pPr algn="l"/>
            <a:endParaRPr lang="en-IN" sz="1600" dirty="0">
              <a:solidFill>
                <a:schemeClr val="tx1"/>
              </a:solidFill>
            </a:endParaRPr>
          </a:p>
          <a:p>
            <a:pPr algn="l"/>
            <a:r>
              <a:rPr lang="en-IN" sz="1600" dirty="0">
                <a:solidFill>
                  <a:schemeClr val="tx1"/>
                </a:solidFill>
              </a:rPr>
              <a:t>Paper 3: </a:t>
            </a:r>
            <a:r>
              <a:rPr lang="en-IN" sz="1600" u="sng" dirty="0">
                <a:solidFill>
                  <a:schemeClr val="tx1"/>
                </a:solidFill>
              </a:rPr>
              <a:t>A fake news detection model using the integration of multimodal attention mechanism and residual convolutional network</a:t>
            </a:r>
          </a:p>
          <a:p>
            <a:pPr algn="l"/>
            <a:endParaRPr lang="en-IN" sz="1600" u="sng" dirty="0">
              <a:solidFill>
                <a:schemeClr val="tx1"/>
              </a:solidFill>
            </a:endParaRPr>
          </a:p>
          <a:p>
            <a:pPr marL="285750" indent="-285750" algn="l">
              <a:lnSpc>
                <a:spcPct val="150000"/>
              </a:lnSpc>
              <a:buFont typeface="Arial" panose="020B0604020202020204" pitchFamily="34" charset="0"/>
              <a:buChar char="•"/>
            </a:pPr>
            <a:r>
              <a:rPr lang="en-IN" sz="1600" dirty="0">
                <a:solidFill>
                  <a:schemeClr val="tx1"/>
                </a:solidFill>
              </a:rPr>
              <a:t>Multimodal attention mechanism with residual convolutional networks. </a:t>
            </a:r>
          </a:p>
          <a:p>
            <a:pPr marL="285750" indent="-285750" algn="l">
              <a:lnSpc>
                <a:spcPct val="150000"/>
              </a:lnSpc>
              <a:buFont typeface="Arial" panose="020B0604020202020204" pitchFamily="34" charset="0"/>
              <a:buChar char="•"/>
            </a:pPr>
            <a:r>
              <a:rPr lang="en-IN" sz="1600" dirty="0">
                <a:solidFill>
                  <a:schemeClr val="tx1"/>
                </a:solidFill>
              </a:rPr>
              <a:t>Improves image-text classification accuracy. </a:t>
            </a:r>
          </a:p>
          <a:p>
            <a:pPr marL="285750" indent="-285750" algn="l">
              <a:buFont typeface="Arial" panose="020B0604020202020204" pitchFamily="34" charset="0"/>
              <a:buChar char="•"/>
            </a:pPr>
            <a:endParaRPr lang="en-IN" sz="1600" dirty="0">
              <a:solidFill>
                <a:schemeClr val="tx1"/>
              </a:solidFill>
            </a:endParaRPr>
          </a:p>
          <a:p>
            <a:pPr algn="l"/>
            <a:r>
              <a:rPr lang="en-IN" sz="1800" u="sng" dirty="0">
                <a:solidFill>
                  <a:schemeClr val="tx1"/>
                </a:solidFill>
              </a:rPr>
              <a:t>Limitations</a:t>
            </a:r>
          </a:p>
          <a:p>
            <a:pPr marL="285750" indent="-285750" algn="l">
              <a:lnSpc>
                <a:spcPct val="150000"/>
              </a:lnSpc>
              <a:buFont typeface="Arial" panose="020B0604020202020204" pitchFamily="34" charset="0"/>
              <a:buChar char="•"/>
            </a:pPr>
            <a:r>
              <a:rPr lang="en-IN" sz="1600" dirty="0">
                <a:solidFill>
                  <a:schemeClr val="tx1"/>
                </a:solidFill>
              </a:rPr>
              <a:t>Limited support for multiple media types. </a:t>
            </a:r>
          </a:p>
          <a:p>
            <a:pPr marL="285750" indent="-285750" algn="l">
              <a:lnSpc>
                <a:spcPct val="150000"/>
              </a:lnSpc>
              <a:buFont typeface="Arial" panose="020B0604020202020204" pitchFamily="34" charset="0"/>
              <a:buChar char="•"/>
            </a:pPr>
            <a:r>
              <a:rPr lang="en-IN" sz="1600" dirty="0">
                <a:solidFill>
                  <a:schemeClr val="tx1"/>
                </a:solidFill>
              </a:rPr>
              <a:t>No unified platform for text, PDF, image, and video verification. </a:t>
            </a:r>
          </a:p>
          <a:p>
            <a:pPr marL="285750" indent="-285750" algn="l">
              <a:lnSpc>
                <a:spcPct val="150000"/>
              </a:lnSpc>
              <a:buFont typeface="Arial" panose="020B0604020202020204" pitchFamily="34" charset="0"/>
              <a:buChar char="•"/>
            </a:pPr>
            <a:r>
              <a:rPr lang="en-IN" sz="1600" dirty="0">
                <a:solidFill>
                  <a:schemeClr val="tx1"/>
                </a:solidFill>
              </a:rPr>
              <a:t>Limited explainability of AI predictions. </a:t>
            </a:r>
          </a:p>
          <a:p>
            <a:pPr marL="285750" indent="-285750" algn="l">
              <a:lnSpc>
                <a:spcPct val="150000"/>
              </a:lnSpc>
              <a:buFont typeface="Arial" panose="020B0604020202020204" pitchFamily="34" charset="0"/>
              <a:buChar char="•"/>
            </a:pPr>
            <a:r>
              <a:rPr lang="en-IN" sz="1600" dirty="0">
                <a:solidFill>
                  <a:schemeClr val="tx1"/>
                </a:solidFill>
              </a:rPr>
              <a:t>Real-time verification remains a challenge.</a:t>
            </a:r>
          </a:p>
        </p:txBody>
      </p:sp>
    </p:spTree>
    <p:extLst>
      <p:ext uri="{BB962C8B-B14F-4D97-AF65-F5344CB8AC3E}">
        <p14:creationId xmlns:p14="http://schemas.microsoft.com/office/powerpoint/2010/main" val="3980559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60682-B61A-3A7D-F54E-ADFD8F388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CA3E2-42DA-A5EC-9021-0C0386F8FB4D}"/>
              </a:ext>
            </a:extLst>
          </p:cNvPr>
          <p:cNvSpPr>
            <a:spLocks noGrp="1"/>
          </p:cNvSpPr>
          <p:nvPr>
            <p:ph type="ctrTitle"/>
          </p:nvPr>
        </p:nvSpPr>
        <p:spPr>
          <a:xfrm>
            <a:off x="-2989165" y="-599768"/>
            <a:ext cx="7766936" cy="1646302"/>
          </a:xfrm>
        </p:spPr>
        <p:txBody>
          <a:bodyPr/>
          <a:lstStyle/>
          <a:p>
            <a:r>
              <a:rPr lang="en-IN" dirty="0"/>
              <a:t>Proposed System</a:t>
            </a:r>
          </a:p>
        </p:txBody>
      </p:sp>
      <p:sp>
        <p:nvSpPr>
          <p:cNvPr id="3" name="Subtitle 2">
            <a:extLst>
              <a:ext uri="{FF2B5EF4-FFF2-40B4-BE49-F238E27FC236}">
                <a16:creationId xmlns:a16="http://schemas.microsoft.com/office/drawing/2014/main" id="{7F4AB77C-AF4D-B1C7-433C-4B50F4675473}"/>
              </a:ext>
            </a:extLst>
          </p:cNvPr>
          <p:cNvSpPr>
            <a:spLocks noGrp="1"/>
          </p:cNvSpPr>
          <p:nvPr>
            <p:ph type="subTitle" idx="1"/>
          </p:nvPr>
        </p:nvSpPr>
        <p:spPr>
          <a:xfrm>
            <a:off x="766484" y="927944"/>
            <a:ext cx="9203426" cy="5963867"/>
          </a:xfrm>
        </p:spPr>
        <p:txBody>
          <a:bodyPr>
            <a:normAutofit/>
          </a:bodyPr>
          <a:lstStyle/>
          <a:p>
            <a:pPr algn="l"/>
            <a:r>
              <a:rPr lang="en-IN" sz="1600" dirty="0">
                <a:solidFill>
                  <a:schemeClr val="tx1"/>
                </a:solidFill>
              </a:rPr>
              <a:t>The proposed system provides a single web platform for detecting misinformation from multiple media sources.</a:t>
            </a:r>
          </a:p>
          <a:p>
            <a:pPr algn="l"/>
            <a:endParaRPr lang="en-IN" sz="1600" dirty="0">
              <a:solidFill>
                <a:schemeClr val="tx1"/>
              </a:solidFill>
            </a:endParaRPr>
          </a:p>
        </p:txBody>
      </p:sp>
      <p:pic>
        <p:nvPicPr>
          <p:cNvPr id="5" name="Picture 4">
            <a:extLst>
              <a:ext uri="{FF2B5EF4-FFF2-40B4-BE49-F238E27FC236}">
                <a16:creationId xmlns:a16="http://schemas.microsoft.com/office/drawing/2014/main" id="{0946321D-0BDF-9CEF-7E8B-21E3D8C98B5D}"/>
              </a:ext>
            </a:extLst>
          </p:cNvPr>
          <p:cNvPicPr>
            <a:picLocks noChangeAspect="1"/>
          </p:cNvPicPr>
          <p:nvPr/>
        </p:nvPicPr>
        <p:blipFill>
          <a:blip r:embed="rId2">
            <a:extLst>
              <a:ext uri="{28A0092B-C50C-407E-A947-70E740481C1C}">
                <a14:useLocalDpi xmlns:a14="http://schemas.microsoft.com/office/drawing/2010/main" val="0"/>
              </a:ext>
            </a:extLst>
          </a:blip>
          <a:srcRect l="4310" r="2266"/>
          <a:stretch>
            <a:fillRect/>
          </a:stretch>
        </p:blipFill>
        <p:spPr>
          <a:xfrm>
            <a:off x="1101213" y="1680042"/>
            <a:ext cx="7256206" cy="5177958"/>
          </a:xfrm>
          <a:prstGeom prst="rect">
            <a:avLst/>
          </a:prstGeom>
        </p:spPr>
      </p:pic>
    </p:spTree>
    <p:extLst>
      <p:ext uri="{BB962C8B-B14F-4D97-AF65-F5344CB8AC3E}">
        <p14:creationId xmlns:p14="http://schemas.microsoft.com/office/powerpoint/2010/main" val="2530017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5117D-B1CD-A725-2C05-D1E085247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3199A-D748-565A-4182-148C4F79E65C}"/>
              </a:ext>
            </a:extLst>
          </p:cNvPr>
          <p:cNvSpPr>
            <a:spLocks noGrp="1"/>
          </p:cNvSpPr>
          <p:nvPr>
            <p:ph type="ctrTitle"/>
          </p:nvPr>
        </p:nvSpPr>
        <p:spPr>
          <a:xfrm>
            <a:off x="-1229190" y="-718358"/>
            <a:ext cx="7766936" cy="1646302"/>
          </a:xfrm>
        </p:spPr>
        <p:txBody>
          <a:bodyPr/>
          <a:lstStyle/>
          <a:p>
            <a:r>
              <a:rPr lang="en-IN" dirty="0"/>
              <a:t>Functional Requirements</a:t>
            </a:r>
          </a:p>
        </p:txBody>
      </p:sp>
      <p:sp>
        <p:nvSpPr>
          <p:cNvPr id="3" name="Subtitle 2">
            <a:extLst>
              <a:ext uri="{FF2B5EF4-FFF2-40B4-BE49-F238E27FC236}">
                <a16:creationId xmlns:a16="http://schemas.microsoft.com/office/drawing/2014/main" id="{637EA3A4-2450-F6B8-A4F3-B099D73D30C0}"/>
              </a:ext>
            </a:extLst>
          </p:cNvPr>
          <p:cNvSpPr>
            <a:spLocks noGrp="1"/>
          </p:cNvSpPr>
          <p:nvPr>
            <p:ph type="subTitle" idx="1"/>
          </p:nvPr>
        </p:nvSpPr>
        <p:spPr>
          <a:xfrm>
            <a:off x="766484" y="927944"/>
            <a:ext cx="9203426" cy="5963867"/>
          </a:xfrm>
        </p:spPr>
        <p:txBody>
          <a:bodyPr>
            <a:normAutofit/>
          </a:bodyPr>
          <a:lstStyle/>
          <a:p>
            <a:pPr marL="285750" indent="-285750" algn="l">
              <a:buFont typeface="Arial" panose="020B0604020202020204" pitchFamily="34" charset="0"/>
              <a:buChar char="•"/>
            </a:pPr>
            <a:r>
              <a:rPr lang="en-IN" sz="1600" dirty="0">
                <a:solidFill>
                  <a:schemeClr val="tx1"/>
                </a:solidFill>
              </a:rPr>
              <a:t>Accept text input for analysis. </a:t>
            </a:r>
          </a:p>
          <a:p>
            <a:pPr marL="285750" indent="-285750" algn="l">
              <a:buFont typeface="Arial" panose="020B0604020202020204" pitchFamily="34" charset="0"/>
              <a:buChar char="•"/>
            </a:pPr>
            <a:r>
              <a:rPr lang="en-IN" sz="1600" dirty="0">
                <a:solidFill>
                  <a:schemeClr val="tx1"/>
                </a:solidFill>
              </a:rPr>
              <a:t>Upload and analyse PDF documents.</a:t>
            </a:r>
          </a:p>
          <a:p>
            <a:pPr marL="285750" indent="-285750" algn="l">
              <a:buFont typeface="Arial" panose="020B0604020202020204" pitchFamily="34" charset="0"/>
              <a:buChar char="•"/>
            </a:pPr>
            <a:r>
              <a:rPr lang="en-IN" sz="1600" dirty="0">
                <a:solidFill>
                  <a:schemeClr val="tx1"/>
                </a:solidFill>
              </a:rPr>
              <a:t> Upload and analyse images. </a:t>
            </a:r>
          </a:p>
          <a:p>
            <a:pPr marL="285750" indent="-285750" algn="l">
              <a:buFont typeface="Arial" panose="020B0604020202020204" pitchFamily="34" charset="0"/>
              <a:buChar char="•"/>
            </a:pPr>
            <a:r>
              <a:rPr lang="en-IN" sz="1600" dirty="0">
                <a:solidFill>
                  <a:schemeClr val="tx1"/>
                </a:solidFill>
              </a:rPr>
              <a:t>Upload and analyse videos. </a:t>
            </a:r>
          </a:p>
          <a:p>
            <a:pPr marL="285750" indent="-285750" algn="l">
              <a:buFont typeface="Arial" panose="020B0604020202020204" pitchFamily="34" charset="0"/>
              <a:buChar char="•"/>
            </a:pPr>
            <a:r>
              <a:rPr lang="en-IN" sz="1600" dirty="0">
                <a:solidFill>
                  <a:schemeClr val="tx1"/>
                </a:solidFill>
              </a:rPr>
              <a:t>Extract text from uploaded PDF files. </a:t>
            </a:r>
          </a:p>
          <a:p>
            <a:pPr marL="285750" indent="-285750" algn="l">
              <a:buFont typeface="Arial" panose="020B0604020202020204" pitchFamily="34" charset="0"/>
              <a:buChar char="•"/>
            </a:pPr>
            <a:r>
              <a:rPr lang="en-IN" sz="1600" dirty="0">
                <a:solidFill>
                  <a:schemeClr val="tx1"/>
                </a:solidFill>
              </a:rPr>
              <a:t>Detect misinformation using AI models. </a:t>
            </a:r>
          </a:p>
          <a:p>
            <a:pPr marL="285750" indent="-285750" algn="l">
              <a:buFont typeface="Arial" panose="020B0604020202020204" pitchFamily="34" charset="0"/>
              <a:buChar char="•"/>
            </a:pPr>
            <a:r>
              <a:rPr lang="en-IN" sz="1600" dirty="0">
                <a:solidFill>
                  <a:schemeClr val="tx1"/>
                </a:solidFill>
              </a:rPr>
              <a:t>Display prediction (Real / Fake) with confidence score. </a:t>
            </a:r>
          </a:p>
          <a:p>
            <a:pPr marL="285750" indent="-285750" algn="l">
              <a:buFont typeface="Arial" panose="020B0604020202020204" pitchFamily="34" charset="0"/>
              <a:buChar char="•"/>
            </a:pPr>
            <a:r>
              <a:rPr lang="en-IN" sz="1600" dirty="0">
                <a:solidFill>
                  <a:schemeClr val="tx1"/>
                </a:solidFill>
              </a:rPr>
              <a:t>Provide SHAP-based explainability for the prediction. </a:t>
            </a:r>
          </a:p>
          <a:p>
            <a:pPr marL="285750" indent="-285750" algn="l">
              <a:buFont typeface="Arial" panose="020B0604020202020204" pitchFamily="34" charset="0"/>
              <a:buChar char="•"/>
            </a:pPr>
            <a:r>
              <a:rPr lang="en-IN" sz="1600" dirty="0">
                <a:solidFill>
                  <a:schemeClr val="tx1"/>
                </a:solidFill>
              </a:rPr>
              <a:t>Store analysis results in the PostgreSQL database.</a:t>
            </a:r>
          </a:p>
        </p:txBody>
      </p:sp>
    </p:spTree>
    <p:extLst>
      <p:ext uri="{BB962C8B-B14F-4D97-AF65-F5344CB8AC3E}">
        <p14:creationId xmlns:p14="http://schemas.microsoft.com/office/powerpoint/2010/main" val="1974070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FD66C-35A2-E1AD-63D5-2A343DCF18E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AE1080F-835E-C3BB-B17F-F9A354BA875E}"/>
              </a:ext>
            </a:extLst>
          </p:cNvPr>
          <p:cNvSpPr>
            <a:spLocks noGrp="1"/>
          </p:cNvSpPr>
          <p:nvPr>
            <p:ph type="subTitle" idx="1"/>
          </p:nvPr>
        </p:nvSpPr>
        <p:spPr>
          <a:xfrm>
            <a:off x="766484" y="927944"/>
            <a:ext cx="9203426" cy="5963867"/>
          </a:xfrm>
        </p:spPr>
        <p:txBody>
          <a:bodyPr>
            <a:normAutofit/>
          </a:bodyPr>
          <a:lstStyle/>
          <a:p>
            <a:pPr marL="285750" indent="-285750" algn="l">
              <a:buFont typeface="Arial" panose="020B0604020202020204" pitchFamily="34" charset="0"/>
              <a:buChar char="•"/>
            </a:pPr>
            <a:r>
              <a:rPr lang="en-IN" sz="1600" dirty="0">
                <a:solidFill>
                  <a:schemeClr val="tx1"/>
                </a:solidFill>
              </a:rPr>
              <a:t>Windows 10/11 or Linux </a:t>
            </a:r>
          </a:p>
          <a:p>
            <a:pPr marL="285750" indent="-285750" algn="l">
              <a:buFont typeface="Arial" panose="020B0604020202020204" pitchFamily="34" charset="0"/>
              <a:buChar char="•"/>
            </a:pPr>
            <a:r>
              <a:rPr lang="en-IN" sz="1600" dirty="0">
                <a:solidFill>
                  <a:schemeClr val="tx1"/>
                </a:solidFill>
              </a:rPr>
              <a:t>Python 3.10+ </a:t>
            </a:r>
          </a:p>
          <a:p>
            <a:pPr marL="285750" indent="-285750" algn="l">
              <a:buFont typeface="Arial" panose="020B0604020202020204" pitchFamily="34" charset="0"/>
              <a:buChar char="•"/>
            </a:pPr>
            <a:r>
              <a:rPr lang="en-IN" sz="1600" dirty="0">
                <a:solidFill>
                  <a:schemeClr val="tx1"/>
                </a:solidFill>
              </a:rPr>
              <a:t>React.js </a:t>
            </a:r>
          </a:p>
          <a:p>
            <a:pPr marL="285750" indent="-285750" algn="l">
              <a:buFont typeface="Arial" panose="020B0604020202020204" pitchFamily="34" charset="0"/>
              <a:buChar char="•"/>
            </a:pPr>
            <a:r>
              <a:rPr lang="en-IN" sz="1600" dirty="0" err="1">
                <a:solidFill>
                  <a:schemeClr val="tx1"/>
                </a:solidFill>
              </a:rPr>
              <a:t>FastAPI</a:t>
            </a:r>
            <a:r>
              <a:rPr lang="en-IN" sz="1600" dirty="0">
                <a:solidFill>
                  <a:schemeClr val="tx1"/>
                </a:solidFill>
              </a:rPr>
              <a:t> </a:t>
            </a:r>
          </a:p>
          <a:p>
            <a:pPr marL="285750" indent="-285750" algn="l">
              <a:buFont typeface="Arial" panose="020B0604020202020204" pitchFamily="34" charset="0"/>
              <a:buChar char="•"/>
            </a:pPr>
            <a:r>
              <a:rPr lang="en-IN" sz="1600" dirty="0">
                <a:solidFill>
                  <a:schemeClr val="tx1"/>
                </a:solidFill>
              </a:rPr>
              <a:t>PostgreSQL</a:t>
            </a:r>
          </a:p>
          <a:p>
            <a:pPr marL="285750" indent="-285750" algn="l">
              <a:buFont typeface="Arial" panose="020B0604020202020204" pitchFamily="34" charset="0"/>
              <a:buChar char="•"/>
            </a:pPr>
            <a:r>
              <a:rPr lang="en-IN" sz="1600" dirty="0">
                <a:solidFill>
                  <a:schemeClr val="tx1"/>
                </a:solidFill>
              </a:rPr>
              <a:t> </a:t>
            </a:r>
            <a:r>
              <a:rPr lang="en-IN" sz="1600" dirty="0" err="1">
                <a:solidFill>
                  <a:schemeClr val="tx1"/>
                </a:solidFill>
              </a:rPr>
              <a:t>PyTorch</a:t>
            </a:r>
            <a:r>
              <a:rPr lang="en-IN" sz="1600" dirty="0">
                <a:solidFill>
                  <a:schemeClr val="tx1"/>
                </a:solidFill>
              </a:rPr>
              <a:t> </a:t>
            </a:r>
          </a:p>
          <a:p>
            <a:pPr marL="285750" indent="-285750" algn="l">
              <a:buFont typeface="Arial" panose="020B0604020202020204" pitchFamily="34" charset="0"/>
              <a:buChar char="•"/>
            </a:pPr>
            <a:r>
              <a:rPr lang="en-IN" sz="1600" dirty="0">
                <a:solidFill>
                  <a:schemeClr val="tx1"/>
                </a:solidFill>
              </a:rPr>
              <a:t>OpenCV </a:t>
            </a:r>
          </a:p>
          <a:p>
            <a:pPr marL="285750" indent="-285750" algn="l">
              <a:buFont typeface="Arial" panose="020B0604020202020204" pitchFamily="34" charset="0"/>
              <a:buChar char="•"/>
            </a:pPr>
            <a:r>
              <a:rPr lang="en-IN" sz="1600" dirty="0" err="1">
                <a:solidFill>
                  <a:schemeClr val="tx1"/>
                </a:solidFill>
              </a:rPr>
              <a:t>FFmpeg</a:t>
            </a:r>
            <a:r>
              <a:rPr lang="en-IN" sz="1600" dirty="0">
                <a:solidFill>
                  <a:schemeClr val="tx1"/>
                </a:solidFill>
              </a:rPr>
              <a:t> (Optional – Video Processing)</a:t>
            </a:r>
          </a:p>
          <a:p>
            <a:pPr marL="285750" indent="-285750" algn="l">
              <a:buFont typeface="Arial" panose="020B0604020202020204" pitchFamily="34" charset="0"/>
              <a:buChar char="•"/>
            </a:pPr>
            <a:r>
              <a:rPr lang="en-IN" sz="1600" dirty="0">
                <a:solidFill>
                  <a:schemeClr val="tx1"/>
                </a:solidFill>
              </a:rPr>
              <a:t>Hugging Face Transformers </a:t>
            </a:r>
          </a:p>
          <a:p>
            <a:pPr marL="285750" indent="-285750" algn="l">
              <a:buFont typeface="Arial" panose="020B0604020202020204" pitchFamily="34" charset="0"/>
              <a:buChar char="•"/>
            </a:pPr>
            <a:r>
              <a:rPr lang="en-IN" sz="1600" dirty="0">
                <a:solidFill>
                  <a:schemeClr val="tx1"/>
                </a:solidFill>
              </a:rPr>
              <a:t>SHAP </a:t>
            </a:r>
          </a:p>
          <a:p>
            <a:pPr marL="285750" indent="-285750" algn="l">
              <a:buFont typeface="Arial" panose="020B0604020202020204" pitchFamily="34" charset="0"/>
              <a:buChar char="•"/>
            </a:pPr>
            <a:r>
              <a:rPr lang="en-IN" sz="1600" dirty="0" err="1">
                <a:solidFill>
                  <a:schemeClr val="tx1"/>
                </a:solidFill>
              </a:rPr>
              <a:t>PyMuPDF</a:t>
            </a:r>
            <a:endParaRPr lang="en-IN" sz="1600" dirty="0">
              <a:solidFill>
                <a:schemeClr val="tx1"/>
              </a:solidFill>
            </a:endParaRPr>
          </a:p>
          <a:p>
            <a:pPr marL="285750" indent="-285750" algn="l">
              <a:buFont typeface="Arial" panose="020B0604020202020204" pitchFamily="34" charset="0"/>
              <a:buChar char="•"/>
            </a:pPr>
            <a:r>
              <a:rPr lang="en-IN" sz="1600" dirty="0">
                <a:solidFill>
                  <a:schemeClr val="tx1"/>
                </a:solidFill>
              </a:rPr>
              <a:t> Git &amp; GitHub.</a:t>
            </a:r>
          </a:p>
        </p:txBody>
      </p:sp>
      <p:sp>
        <p:nvSpPr>
          <p:cNvPr id="5" name="Title 1">
            <a:extLst>
              <a:ext uri="{FF2B5EF4-FFF2-40B4-BE49-F238E27FC236}">
                <a16:creationId xmlns:a16="http://schemas.microsoft.com/office/drawing/2014/main" id="{16D4D344-3E2E-DBD5-9F79-A046318A39A0}"/>
              </a:ext>
            </a:extLst>
          </p:cNvPr>
          <p:cNvSpPr txBox="1">
            <a:spLocks/>
          </p:cNvSpPr>
          <p:nvPr/>
        </p:nvSpPr>
        <p:spPr>
          <a:xfrm>
            <a:off x="-1190136" y="216309"/>
            <a:ext cx="7512278" cy="603480"/>
          </a:xfrm>
          <a:prstGeom prst="rect">
            <a:avLst/>
          </a:prstGeom>
        </p:spPr>
        <p:txBody>
          <a:bodyPr vert="horz" lIns="91440" tIns="45720" rIns="91440" bIns="45720" rtlCol="0" anchor="b">
            <a:noAutofit/>
          </a:bodyPr>
          <a:lstStyle>
            <a:lvl1pPr algn="r" defTabSz="342900" rtl="0" eaLnBrk="1" latinLnBrk="0" hangingPunct="1">
              <a:spcBef>
                <a:spcPct val="0"/>
              </a:spcBef>
              <a:buNone/>
              <a:defRPr sz="405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Software Requirements</a:t>
            </a:r>
          </a:p>
        </p:txBody>
      </p:sp>
    </p:spTree>
    <p:extLst>
      <p:ext uri="{BB962C8B-B14F-4D97-AF65-F5344CB8AC3E}">
        <p14:creationId xmlns:p14="http://schemas.microsoft.com/office/powerpoint/2010/main" val="3369277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0787B-F54A-ADA6-29FB-FDF0D8F76D6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38C99A4-40FC-0B6B-E959-29CE96118373}"/>
              </a:ext>
            </a:extLst>
          </p:cNvPr>
          <p:cNvSpPr>
            <a:spLocks noGrp="1"/>
          </p:cNvSpPr>
          <p:nvPr>
            <p:ph type="subTitle" idx="1"/>
          </p:nvPr>
        </p:nvSpPr>
        <p:spPr>
          <a:xfrm>
            <a:off x="766484" y="927944"/>
            <a:ext cx="9203426" cy="5963867"/>
          </a:xfrm>
        </p:spPr>
        <p:txBody>
          <a:bodyPr>
            <a:normAutofit/>
          </a:bodyPr>
          <a:lstStyle/>
          <a:p>
            <a:pPr marL="285750" indent="-285750" algn="l">
              <a:buFont typeface="Arial" panose="020B0604020202020204" pitchFamily="34" charset="0"/>
              <a:buChar char="•"/>
            </a:pPr>
            <a:r>
              <a:rPr lang="en-IN" sz="1600" dirty="0">
                <a:solidFill>
                  <a:schemeClr val="tx1"/>
                </a:solidFill>
              </a:rPr>
              <a:t>Intel Core i5 / AMD </a:t>
            </a:r>
            <a:r>
              <a:rPr lang="en-IN" sz="1600" dirty="0" err="1">
                <a:solidFill>
                  <a:schemeClr val="tx1"/>
                </a:solidFill>
              </a:rPr>
              <a:t>Ryzen</a:t>
            </a:r>
            <a:r>
              <a:rPr lang="en-IN" sz="1600" dirty="0">
                <a:solidFill>
                  <a:schemeClr val="tx1"/>
                </a:solidFill>
              </a:rPr>
              <a:t> 5+ </a:t>
            </a:r>
          </a:p>
          <a:p>
            <a:pPr marL="285750" indent="-285750" algn="l">
              <a:buFont typeface="Arial" panose="020B0604020202020204" pitchFamily="34" charset="0"/>
              <a:buChar char="•"/>
            </a:pPr>
            <a:r>
              <a:rPr lang="en-IN" sz="1600" dirty="0">
                <a:solidFill>
                  <a:schemeClr val="tx1"/>
                </a:solidFill>
              </a:rPr>
              <a:t>8 GB RAM (16 GB Recommended) </a:t>
            </a:r>
          </a:p>
          <a:p>
            <a:pPr marL="285750" indent="-285750" algn="l">
              <a:buFont typeface="Arial" panose="020B0604020202020204" pitchFamily="34" charset="0"/>
              <a:buChar char="•"/>
            </a:pPr>
            <a:r>
              <a:rPr lang="en-IN" sz="1600" dirty="0">
                <a:solidFill>
                  <a:schemeClr val="tx1"/>
                </a:solidFill>
              </a:rPr>
              <a:t>256 GB SSD (512 GB Recommended)</a:t>
            </a:r>
          </a:p>
          <a:p>
            <a:pPr marL="285750" indent="-285750" algn="l">
              <a:buFont typeface="Arial" panose="020B0604020202020204" pitchFamily="34" charset="0"/>
              <a:buChar char="•"/>
            </a:pPr>
            <a:r>
              <a:rPr lang="en-IN" sz="1600" dirty="0">
                <a:solidFill>
                  <a:schemeClr val="tx1"/>
                </a:solidFill>
              </a:rPr>
              <a:t> NVIDIA GPU (Optional) </a:t>
            </a:r>
          </a:p>
          <a:p>
            <a:pPr marL="285750" indent="-285750" algn="l">
              <a:buFont typeface="Arial" panose="020B0604020202020204" pitchFamily="34" charset="0"/>
              <a:buChar char="•"/>
            </a:pPr>
            <a:r>
              <a:rPr lang="en-IN" sz="1600" dirty="0">
                <a:solidFill>
                  <a:schemeClr val="tx1"/>
                </a:solidFill>
              </a:rPr>
              <a:t>Stable Internet Connection</a:t>
            </a:r>
          </a:p>
        </p:txBody>
      </p:sp>
      <p:sp>
        <p:nvSpPr>
          <p:cNvPr id="5" name="Title 1">
            <a:extLst>
              <a:ext uri="{FF2B5EF4-FFF2-40B4-BE49-F238E27FC236}">
                <a16:creationId xmlns:a16="http://schemas.microsoft.com/office/drawing/2014/main" id="{E94B8174-3B87-F513-41E9-1F0E0A50F01A}"/>
              </a:ext>
            </a:extLst>
          </p:cNvPr>
          <p:cNvSpPr txBox="1">
            <a:spLocks/>
          </p:cNvSpPr>
          <p:nvPr/>
        </p:nvSpPr>
        <p:spPr>
          <a:xfrm>
            <a:off x="-1190136" y="216309"/>
            <a:ext cx="7512278" cy="603480"/>
          </a:xfrm>
          <a:prstGeom prst="rect">
            <a:avLst/>
          </a:prstGeom>
        </p:spPr>
        <p:txBody>
          <a:bodyPr vert="horz" lIns="91440" tIns="45720" rIns="91440" bIns="45720" rtlCol="0" anchor="b">
            <a:noAutofit/>
          </a:bodyPr>
          <a:lstStyle>
            <a:lvl1pPr algn="r" defTabSz="342900" rtl="0" eaLnBrk="1" latinLnBrk="0" hangingPunct="1">
              <a:spcBef>
                <a:spcPct val="0"/>
              </a:spcBef>
              <a:buNone/>
              <a:defRPr sz="405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Hardware Requirements</a:t>
            </a:r>
          </a:p>
        </p:txBody>
      </p:sp>
    </p:spTree>
    <p:extLst>
      <p:ext uri="{BB962C8B-B14F-4D97-AF65-F5344CB8AC3E}">
        <p14:creationId xmlns:p14="http://schemas.microsoft.com/office/powerpoint/2010/main" val="1535770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43507-95F6-83DD-0535-44C52466A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BD9BC-E61B-8843-F488-1DF1507C163A}"/>
              </a:ext>
            </a:extLst>
          </p:cNvPr>
          <p:cNvSpPr>
            <a:spLocks noGrp="1"/>
          </p:cNvSpPr>
          <p:nvPr>
            <p:ph type="ctrTitle"/>
          </p:nvPr>
        </p:nvSpPr>
        <p:spPr>
          <a:xfrm>
            <a:off x="0" y="-718358"/>
            <a:ext cx="7766936" cy="1646302"/>
          </a:xfrm>
        </p:spPr>
        <p:txBody>
          <a:bodyPr/>
          <a:lstStyle/>
          <a:p>
            <a:r>
              <a:rPr lang="en-IN" dirty="0"/>
              <a:t>Non-Functional Requirements</a:t>
            </a:r>
          </a:p>
        </p:txBody>
      </p:sp>
      <p:sp>
        <p:nvSpPr>
          <p:cNvPr id="3" name="Subtitle 2">
            <a:extLst>
              <a:ext uri="{FF2B5EF4-FFF2-40B4-BE49-F238E27FC236}">
                <a16:creationId xmlns:a16="http://schemas.microsoft.com/office/drawing/2014/main" id="{5E9040C3-1E9B-E351-CA15-132637A38FC0}"/>
              </a:ext>
            </a:extLst>
          </p:cNvPr>
          <p:cNvSpPr>
            <a:spLocks noGrp="1"/>
          </p:cNvSpPr>
          <p:nvPr>
            <p:ph type="subTitle" idx="1"/>
          </p:nvPr>
        </p:nvSpPr>
        <p:spPr>
          <a:xfrm>
            <a:off x="766484" y="927944"/>
            <a:ext cx="9203426" cy="5963867"/>
          </a:xfrm>
        </p:spPr>
        <p:txBody>
          <a:bodyPr>
            <a:normAutofit/>
          </a:bodyPr>
          <a:lstStyle/>
          <a:p>
            <a:pPr marL="285750" indent="-285750" algn="l">
              <a:buFont typeface="Arial" panose="020B0604020202020204" pitchFamily="34" charset="0"/>
              <a:buChar char="•"/>
            </a:pPr>
            <a:r>
              <a:rPr lang="en-IN" sz="1600" dirty="0">
                <a:solidFill>
                  <a:schemeClr val="tx1"/>
                </a:solidFill>
              </a:rPr>
              <a:t>High accuracy. </a:t>
            </a:r>
          </a:p>
          <a:p>
            <a:pPr marL="285750" indent="-285750" algn="l">
              <a:buFont typeface="Arial" panose="020B0604020202020204" pitchFamily="34" charset="0"/>
              <a:buChar char="•"/>
            </a:pPr>
            <a:r>
              <a:rPr lang="en-IN" sz="1600" dirty="0">
                <a:solidFill>
                  <a:schemeClr val="tx1"/>
                </a:solidFill>
              </a:rPr>
              <a:t>Fast response time. </a:t>
            </a:r>
          </a:p>
          <a:p>
            <a:pPr marL="285750" indent="-285750" algn="l">
              <a:buFont typeface="Arial" panose="020B0604020202020204" pitchFamily="34" charset="0"/>
              <a:buChar char="•"/>
            </a:pPr>
            <a:r>
              <a:rPr lang="en-IN" sz="1600" dirty="0">
                <a:solidFill>
                  <a:schemeClr val="tx1"/>
                </a:solidFill>
              </a:rPr>
              <a:t>Secure user data. </a:t>
            </a:r>
          </a:p>
          <a:p>
            <a:pPr marL="285750" indent="-285750" algn="l">
              <a:buFont typeface="Arial" panose="020B0604020202020204" pitchFamily="34" charset="0"/>
              <a:buChar char="•"/>
            </a:pPr>
            <a:r>
              <a:rPr lang="en-IN" sz="1600" dirty="0">
                <a:solidFill>
                  <a:schemeClr val="tx1"/>
                </a:solidFill>
              </a:rPr>
              <a:t>Scalability. </a:t>
            </a:r>
          </a:p>
          <a:p>
            <a:pPr marL="285750" indent="-285750" algn="l">
              <a:buFont typeface="Arial" panose="020B0604020202020204" pitchFamily="34" charset="0"/>
              <a:buChar char="•"/>
            </a:pPr>
            <a:r>
              <a:rPr lang="en-IN" sz="1600" dirty="0">
                <a:solidFill>
                  <a:schemeClr val="tx1"/>
                </a:solidFill>
              </a:rPr>
              <a:t>Reliability. </a:t>
            </a:r>
          </a:p>
          <a:p>
            <a:pPr marL="285750" indent="-285750" algn="l">
              <a:buFont typeface="Arial" panose="020B0604020202020204" pitchFamily="34" charset="0"/>
              <a:buChar char="•"/>
            </a:pPr>
            <a:r>
              <a:rPr lang="en-IN" sz="1600" dirty="0">
                <a:solidFill>
                  <a:schemeClr val="tx1"/>
                </a:solidFill>
              </a:rPr>
              <a:t>Maintainability. </a:t>
            </a:r>
          </a:p>
          <a:p>
            <a:pPr marL="285750" indent="-285750" algn="l">
              <a:buFont typeface="Arial" panose="020B0604020202020204" pitchFamily="34" charset="0"/>
              <a:buChar char="•"/>
            </a:pPr>
            <a:r>
              <a:rPr lang="en-IN" sz="1600" dirty="0">
                <a:solidFill>
                  <a:schemeClr val="tx1"/>
                </a:solidFill>
              </a:rPr>
              <a:t>User-friendly interface.</a:t>
            </a:r>
          </a:p>
        </p:txBody>
      </p:sp>
    </p:spTree>
    <p:extLst>
      <p:ext uri="{BB962C8B-B14F-4D97-AF65-F5344CB8AC3E}">
        <p14:creationId xmlns:p14="http://schemas.microsoft.com/office/powerpoint/2010/main" val="3088392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ACD1D-0D56-D597-61FB-DD39DCB6D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FB674-8DC3-866C-315F-CC64112A013F}"/>
              </a:ext>
            </a:extLst>
          </p:cNvPr>
          <p:cNvSpPr>
            <a:spLocks noGrp="1"/>
          </p:cNvSpPr>
          <p:nvPr>
            <p:ph type="ctrTitle"/>
          </p:nvPr>
        </p:nvSpPr>
        <p:spPr>
          <a:xfrm>
            <a:off x="-3765755" y="-718358"/>
            <a:ext cx="7766936" cy="1646302"/>
          </a:xfrm>
        </p:spPr>
        <p:txBody>
          <a:bodyPr/>
          <a:lstStyle/>
          <a:p>
            <a:r>
              <a:rPr lang="en-IN" dirty="0"/>
              <a:t>Future Scope</a:t>
            </a:r>
          </a:p>
        </p:txBody>
      </p:sp>
      <p:sp>
        <p:nvSpPr>
          <p:cNvPr id="3" name="Subtitle 2">
            <a:extLst>
              <a:ext uri="{FF2B5EF4-FFF2-40B4-BE49-F238E27FC236}">
                <a16:creationId xmlns:a16="http://schemas.microsoft.com/office/drawing/2014/main" id="{7B5DDE7F-FF8F-B18C-3FCF-6CBFFED34B46}"/>
              </a:ext>
            </a:extLst>
          </p:cNvPr>
          <p:cNvSpPr>
            <a:spLocks noGrp="1"/>
          </p:cNvSpPr>
          <p:nvPr>
            <p:ph type="subTitle" idx="1"/>
          </p:nvPr>
        </p:nvSpPr>
        <p:spPr>
          <a:xfrm>
            <a:off x="766484" y="927944"/>
            <a:ext cx="9203426" cy="5963867"/>
          </a:xfrm>
        </p:spPr>
        <p:txBody>
          <a:bodyPr>
            <a:normAutofit/>
          </a:bodyPr>
          <a:lstStyle/>
          <a:p>
            <a:pPr algn="l"/>
            <a:r>
              <a:rPr lang="en-IN" sz="1600" dirty="0">
                <a:solidFill>
                  <a:schemeClr val="tx1"/>
                </a:solidFill>
              </a:rPr>
              <a:t>The proposed system can be enhanced by incorporating:</a:t>
            </a:r>
          </a:p>
          <a:p>
            <a:pPr marL="285750" indent="-285750" algn="l">
              <a:buFont typeface="Arial" panose="020B0604020202020204" pitchFamily="34" charset="0"/>
              <a:buChar char="•"/>
            </a:pPr>
            <a:r>
              <a:rPr lang="en-IN" sz="1600" dirty="0">
                <a:solidFill>
                  <a:schemeClr val="tx1"/>
                </a:solidFill>
              </a:rPr>
              <a:t>Browser extension for real-time verification. </a:t>
            </a:r>
          </a:p>
          <a:p>
            <a:pPr marL="285750" indent="-285750" algn="l">
              <a:buFont typeface="Arial" panose="020B0604020202020204" pitchFamily="34" charset="0"/>
              <a:buChar char="•"/>
            </a:pPr>
            <a:r>
              <a:rPr lang="en-IN" sz="1600" dirty="0">
                <a:solidFill>
                  <a:schemeClr val="tx1"/>
                </a:solidFill>
              </a:rPr>
              <a:t>Integration with social media platforms. </a:t>
            </a:r>
          </a:p>
          <a:p>
            <a:pPr marL="285750" indent="-285750" algn="l">
              <a:buFont typeface="Arial" panose="020B0604020202020204" pitchFamily="34" charset="0"/>
              <a:buChar char="•"/>
            </a:pPr>
            <a:r>
              <a:rPr lang="en-IN" sz="1600" dirty="0">
                <a:solidFill>
                  <a:schemeClr val="tx1"/>
                </a:solidFill>
              </a:rPr>
              <a:t>Multilingual misinformation detection. </a:t>
            </a:r>
          </a:p>
          <a:p>
            <a:pPr marL="285750" indent="-285750" algn="l">
              <a:buFont typeface="Arial" panose="020B0604020202020204" pitchFamily="34" charset="0"/>
              <a:buChar char="•"/>
            </a:pPr>
            <a:r>
              <a:rPr lang="en-IN" sz="1600" dirty="0">
                <a:solidFill>
                  <a:schemeClr val="tx1"/>
                </a:solidFill>
              </a:rPr>
              <a:t>Audio deepfake detection. </a:t>
            </a:r>
          </a:p>
          <a:p>
            <a:pPr marL="285750" indent="-285750" algn="l">
              <a:buFont typeface="Arial" panose="020B0604020202020204" pitchFamily="34" charset="0"/>
              <a:buChar char="•"/>
            </a:pPr>
            <a:r>
              <a:rPr lang="en-IN" sz="1600" dirty="0">
                <a:solidFill>
                  <a:schemeClr val="tx1"/>
                </a:solidFill>
              </a:rPr>
              <a:t>Cloud-based deployment. </a:t>
            </a:r>
          </a:p>
          <a:p>
            <a:pPr marL="285750" indent="-285750" algn="l">
              <a:buFont typeface="Arial" panose="020B0604020202020204" pitchFamily="34" charset="0"/>
              <a:buChar char="•"/>
            </a:pPr>
            <a:r>
              <a:rPr lang="en-IN" sz="1600" dirty="0">
                <a:solidFill>
                  <a:schemeClr val="tx1"/>
                </a:solidFill>
              </a:rPr>
              <a:t>Mobile application. </a:t>
            </a:r>
          </a:p>
          <a:p>
            <a:pPr marL="285750" indent="-285750" algn="l">
              <a:buFont typeface="Arial" panose="020B0604020202020204" pitchFamily="34" charset="0"/>
              <a:buChar char="•"/>
            </a:pPr>
            <a:r>
              <a:rPr lang="en-IN" sz="1600" dirty="0">
                <a:solidFill>
                  <a:schemeClr val="tx1"/>
                </a:solidFill>
              </a:rPr>
              <a:t>Continuous learning using newly available datasets</a:t>
            </a:r>
            <a:r>
              <a:rPr lang="en-IN" sz="1600" dirty="0"/>
              <a:t>.</a:t>
            </a:r>
          </a:p>
        </p:txBody>
      </p:sp>
    </p:spTree>
    <p:extLst>
      <p:ext uri="{BB962C8B-B14F-4D97-AF65-F5344CB8AC3E}">
        <p14:creationId xmlns:p14="http://schemas.microsoft.com/office/powerpoint/2010/main" val="1296872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878EB-1D38-D8C1-968A-0F39AEB150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2E156-963B-4E65-145F-FB3C7BD4D1F3}"/>
              </a:ext>
            </a:extLst>
          </p:cNvPr>
          <p:cNvSpPr>
            <a:spLocks noGrp="1"/>
          </p:cNvSpPr>
          <p:nvPr>
            <p:ph type="ctrTitle"/>
          </p:nvPr>
        </p:nvSpPr>
        <p:spPr>
          <a:xfrm>
            <a:off x="-3765755" y="-718358"/>
            <a:ext cx="7766936" cy="1646302"/>
          </a:xfrm>
        </p:spPr>
        <p:txBody>
          <a:bodyPr/>
          <a:lstStyle/>
          <a:p>
            <a:r>
              <a:rPr lang="en-IN" dirty="0"/>
              <a:t>Conclusion</a:t>
            </a:r>
          </a:p>
        </p:txBody>
      </p:sp>
      <p:sp>
        <p:nvSpPr>
          <p:cNvPr id="3" name="Subtitle 2">
            <a:extLst>
              <a:ext uri="{FF2B5EF4-FFF2-40B4-BE49-F238E27FC236}">
                <a16:creationId xmlns:a16="http://schemas.microsoft.com/office/drawing/2014/main" id="{B50E419F-DB09-F8ED-BC06-F67C963DE172}"/>
              </a:ext>
            </a:extLst>
          </p:cNvPr>
          <p:cNvSpPr>
            <a:spLocks noGrp="1"/>
          </p:cNvSpPr>
          <p:nvPr>
            <p:ph type="subTitle" idx="1"/>
          </p:nvPr>
        </p:nvSpPr>
        <p:spPr>
          <a:xfrm>
            <a:off x="766484" y="927944"/>
            <a:ext cx="9203426" cy="5963867"/>
          </a:xfrm>
        </p:spPr>
        <p:txBody>
          <a:bodyPr>
            <a:normAutofit/>
          </a:bodyPr>
          <a:lstStyle/>
          <a:p>
            <a:pPr algn="l">
              <a:lnSpc>
                <a:spcPct val="150000"/>
              </a:lnSpc>
            </a:pPr>
            <a:r>
              <a:rPr lang="en-IN" sz="1600" dirty="0">
                <a:solidFill>
                  <a:schemeClr val="tx1"/>
                </a:solidFill>
              </a:rPr>
              <a:t>The proposed AI-powered multimodal misinformation detection system addresses the growing challenge of fake information by combining Natural Language Processing, Computer Vision, and Explainable AI within a unified platform. By supporting text, PDF documents, images, and videos, the system provides accurate, transparent, and scalable verification. The project has significant potential to assist users in identifying misleading content and can be further expanded to support real-time and multilingual misinformation detection.</a:t>
            </a:r>
          </a:p>
          <a:p>
            <a:pPr algn="l">
              <a:lnSpc>
                <a:spcPct val="150000"/>
              </a:lnSpc>
            </a:pPr>
            <a:r>
              <a:rPr lang="en-IN" sz="1600" dirty="0">
                <a:solidFill>
                  <a:schemeClr val="tx1"/>
                </a:solidFill>
              </a:rPr>
              <a:t>The proposed system provides a scalable and explainable solution for multimodal misinformation detection, with the potential to support future real-time verification across diverse digital platforms.</a:t>
            </a:r>
          </a:p>
        </p:txBody>
      </p:sp>
    </p:spTree>
    <p:extLst>
      <p:ext uri="{BB962C8B-B14F-4D97-AF65-F5344CB8AC3E}">
        <p14:creationId xmlns:p14="http://schemas.microsoft.com/office/powerpoint/2010/main" val="1663694354"/>
      </p:ext>
    </p:extLst>
  </p:cSld>
  <p:clrMapOvr>
    <a:masterClrMapping/>
  </p:clrMapOvr>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ainproject zeroth rebview">
      <a:majorFont>
        <a:latin typeface="Aptos"/>
        <a:ea typeface=""/>
        <a:cs typeface=""/>
      </a:majorFont>
      <a:minorFont>
        <a:latin typeface="Aptos"/>
        <a:ea typeface=""/>
        <a:cs typeface=""/>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97</TotalTime>
  <Words>776</Words>
  <Application>Microsoft Office PowerPoint</Application>
  <PresentationFormat>Widescreen</PresentationFormat>
  <Paragraphs>99</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Wingdings</vt:lpstr>
      <vt:lpstr>Wingdings 3</vt:lpstr>
      <vt:lpstr>Facet</vt:lpstr>
      <vt:lpstr>AI-Powered Multimodal Misinformation Detection and Verification System</vt:lpstr>
      <vt:lpstr>Abstract </vt:lpstr>
      <vt:lpstr>Introduction</vt:lpstr>
      <vt:lpstr>Problem Statement</vt:lpstr>
      <vt:lpstr>Existing System</vt:lpstr>
      <vt:lpstr>PowerPoint Presentation</vt:lpstr>
      <vt:lpstr>Proposed System</vt:lpstr>
      <vt:lpstr>Functional Requirements</vt:lpstr>
      <vt:lpstr>PowerPoint Presentation</vt:lpstr>
      <vt:lpstr>PowerPoint Presentation</vt:lpstr>
      <vt:lpstr>Non-Functional Requirements</vt:lpstr>
      <vt:lpstr>Future Scope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Nemuel Sam Jerry</dc:creator>
  <cp:lastModifiedBy>Nemuel Sam Jerry</cp:lastModifiedBy>
  <cp:revision>3</cp:revision>
  <dcterms:created xsi:type="dcterms:W3CDTF">2026-07-20T17:18:07Z</dcterms:created>
  <dcterms:modified xsi:type="dcterms:W3CDTF">2026-07-21T17:12:53Z</dcterms:modified>
</cp:coreProperties>
</file>